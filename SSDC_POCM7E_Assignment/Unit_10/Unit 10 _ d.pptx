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49"/>
  </p:notesMasterIdLst>
  <p:sldIdLst>
    <p:sldId id="315" r:id="rId5"/>
    <p:sldId id="478" r:id="rId6"/>
    <p:sldId id="462" r:id="rId7"/>
    <p:sldId id="341" r:id="rId8"/>
    <p:sldId id="413" r:id="rId9"/>
    <p:sldId id="424" r:id="rId10"/>
    <p:sldId id="448" r:id="rId11"/>
    <p:sldId id="449" r:id="rId12"/>
    <p:sldId id="415" r:id="rId13"/>
    <p:sldId id="451" r:id="rId14"/>
    <p:sldId id="435" r:id="rId15"/>
    <p:sldId id="436" r:id="rId16"/>
    <p:sldId id="453" r:id="rId17"/>
    <p:sldId id="454" r:id="rId18"/>
    <p:sldId id="353" r:id="rId19"/>
    <p:sldId id="479" r:id="rId20"/>
    <p:sldId id="426" r:id="rId21"/>
    <p:sldId id="427" r:id="rId22"/>
    <p:sldId id="355" r:id="rId23"/>
    <p:sldId id="428" r:id="rId24"/>
    <p:sldId id="480" r:id="rId25"/>
    <p:sldId id="411" r:id="rId26"/>
    <p:sldId id="431" r:id="rId27"/>
    <p:sldId id="481" r:id="rId28"/>
    <p:sldId id="470" r:id="rId29"/>
    <p:sldId id="472" r:id="rId30"/>
    <p:sldId id="474" r:id="rId31"/>
    <p:sldId id="476" r:id="rId32"/>
    <p:sldId id="477" r:id="rId33"/>
    <p:sldId id="475" r:id="rId34"/>
    <p:sldId id="482" r:id="rId35"/>
    <p:sldId id="444" r:id="rId36"/>
    <p:sldId id="483" r:id="rId37"/>
    <p:sldId id="440" r:id="rId38"/>
    <p:sldId id="441" r:id="rId39"/>
    <p:sldId id="442" r:id="rId40"/>
    <p:sldId id="443" r:id="rId41"/>
    <p:sldId id="447" r:id="rId42"/>
    <p:sldId id="457" r:id="rId43"/>
    <p:sldId id="458" r:id="rId44"/>
    <p:sldId id="466" r:id="rId45"/>
    <p:sldId id="467" r:id="rId46"/>
    <p:sldId id="468" r:id="rId47"/>
    <p:sldId id="484"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9" autoAdjust="0"/>
    <p:restoredTop sz="69520" autoAdjust="0"/>
  </p:normalViewPr>
  <p:slideViewPr>
    <p:cSldViewPr snapToGrid="0" snapToObjects="1">
      <p:cViewPr varScale="1">
        <p:scale>
          <a:sx n="67" d="100"/>
          <a:sy n="67" d="100"/>
        </p:scale>
        <p:origin x="27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7A3C1E-8EB7-4FEF-AE87-6504015B6565}" type="datetimeFigureOut">
              <a:rPr lang="en-GB" smtClean="0"/>
              <a:t>30/03/2026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0ED4A-0633-4AEA-93EB-867478A7E53D}" type="slidenum">
              <a:rPr lang="en-GB" smtClean="0"/>
              <a:t>‹#›</a:t>
            </a:fld>
            <a:endParaRPr lang="en-GB"/>
          </a:p>
        </p:txBody>
      </p:sp>
    </p:spTree>
    <p:extLst>
      <p:ext uri="{BB962C8B-B14F-4D97-AF65-F5344CB8AC3E}">
        <p14:creationId xmlns:p14="http://schemas.microsoft.com/office/powerpoint/2010/main" val="2814537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A055A70-B77A-4F6C-A450-67C963F66CEA}" type="slidenum">
              <a:rPr lang="en-GB" smtClean="0"/>
              <a:t>1</a:t>
            </a:fld>
            <a:endParaRPr lang="en-GB"/>
          </a:p>
        </p:txBody>
      </p:sp>
    </p:spTree>
    <p:extLst>
      <p:ext uri="{BB962C8B-B14F-4D97-AF65-F5344CB8AC3E}">
        <p14:creationId xmlns:p14="http://schemas.microsoft.com/office/powerpoint/2010/main" val="3407050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a:t>
            </a:fld>
            <a:endParaRPr lang="en-GB"/>
          </a:p>
        </p:txBody>
      </p:sp>
    </p:spTree>
    <p:extLst>
      <p:ext uri="{BB962C8B-B14F-4D97-AF65-F5344CB8AC3E}">
        <p14:creationId xmlns:p14="http://schemas.microsoft.com/office/powerpoint/2010/main" val="2727187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4</a:t>
            </a:fld>
            <a:endParaRPr lang="en-GB"/>
          </a:p>
        </p:txBody>
      </p:sp>
    </p:spTree>
    <p:extLst>
      <p:ext uri="{BB962C8B-B14F-4D97-AF65-F5344CB8AC3E}">
        <p14:creationId xmlns:p14="http://schemas.microsoft.com/office/powerpoint/2010/main" val="4147418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5</a:t>
            </a:fld>
            <a:endParaRPr lang="en-GB"/>
          </a:p>
        </p:txBody>
      </p:sp>
    </p:spTree>
    <p:extLst>
      <p:ext uri="{BB962C8B-B14F-4D97-AF65-F5344CB8AC3E}">
        <p14:creationId xmlns:p14="http://schemas.microsoft.com/office/powerpoint/2010/main" val="2267699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6</a:t>
            </a:fld>
            <a:endParaRPr lang="en-GB"/>
          </a:p>
        </p:txBody>
      </p:sp>
    </p:spTree>
    <p:extLst>
      <p:ext uri="{BB962C8B-B14F-4D97-AF65-F5344CB8AC3E}">
        <p14:creationId xmlns:p14="http://schemas.microsoft.com/office/powerpoint/2010/main" val="3272886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i="0" dirty="0">
              <a:solidFill>
                <a:srgbClr val="292929"/>
              </a:solidFill>
              <a:effectLst/>
              <a:latin typeface="charter"/>
            </a:endParaRPr>
          </a:p>
        </p:txBody>
      </p:sp>
      <p:sp>
        <p:nvSpPr>
          <p:cNvPr id="4" name="Slide Number Placeholder 3"/>
          <p:cNvSpPr>
            <a:spLocks noGrp="1"/>
          </p:cNvSpPr>
          <p:nvPr>
            <p:ph type="sldNum" sz="quarter" idx="5"/>
          </p:nvPr>
        </p:nvSpPr>
        <p:spPr/>
        <p:txBody>
          <a:bodyPr/>
          <a:lstStyle/>
          <a:p>
            <a:fld id="{A810ED4A-0633-4AEA-93EB-867478A7E53D}" type="slidenum">
              <a:rPr lang="en-GB" smtClean="0"/>
              <a:t>7</a:t>
            </a:fld>
            <a:endParaRPr lang="en-GB"/>
          </a:p>
        </p:txBody>
      </p:sp>
    </p:spTree>
    <p:extLst>
      <p:ext uri="{BB962C8B-B14F-4D97-AF65-F5344CB8AC3E}">
        <p14:creationId xmlns:p14="http://schemas.microsoft.com/office/powerpoint/2010/main" val="3481293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810ED4A-0633-4AEA-93EB-867478A7E53D}" type="slidenum">
              <a:rPr lang="en-GB" smtClean="0"/>
              <a:t>8</a:t>
            </a:fld>
            <a:endParaRPr lang="en-GB"/>
          </a:p>
        </p:txBody>
      </p:sp>
    </p:spTree>
    <p:extLst>
      <p:ext uri="{BB962C8B-B14F-4D97-AF65-F5344CB8AC3E}">
        <p14:creationId xmlns:p14="http://schemas.microsoft.com/office/powerpoint/2010/main" val="77226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9</a:t>
            </a:fld>
            <a:endParaRPr lang="en-GB"/>
          </a:p>
        </p:txBody>
      </p:sp>
    </p:spTree>
    <p:extLst>
      <p:ext uri="{BB962C8B-B14F-4D97-AF65-F5344CB8AC3E}">
        <p14:creationId xmlns:p14="http://schemas.microsoft.com/office/powerpoint/2010/main" val="3579170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10</a:t>
            </a:fld>
            <a:endParaRPr lang="en-GB"/>
          </a:p>
        </p:txBody>
      </p:sp>
    </p:spTree>
    <p:extLst>
      <p:ext uri="{BB962C8B-B14F-4D97-AF65-F5344CB8AC3E}">
        <p14:creationId xmlns:p14="http://schemas.microsoft.com/office/powerpoint/2010/main" val="348621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11</a:t>
            </a:fld>
            <a:endParaRPr lang="en-GB"/>
          </a:p>
        </p:txBody>
      </p:sp>
    </p:spTree>
    <p:extLst>
      <p:ext uri="{BB962C8B-B14F-4D97-AF65-F5344CB8AC3E}">
        <p14:creationId xmlns:p14="http://schemas.microsoft.com/office/powerpoint/2010/main" val="1905029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12</a:t>
            </a:fld>
            <a:endParaRPr lang="en-GB"/>
          </a:p>
        </p:txBody>
      </p:sp>
    </p:spTree>
    <p:extLst>
      <p:ext uri="{BB962C8B-B14F-4D97-AF65-F5344CB8AC3E}">
        <p14:creationId xmlns:p14="http://schemas.microsoft.com/office/powerpoint/2010/main" val="2199295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13</a:t>
            </a:fld>
            <a:endParaRPr lang="en-GB"/>
          </a:p>
        </p:txBody>
      </p:sp>
    </p:spTree>
    <p:extLst>
      <p:ext uri="{BB962C8B-B14F-4D97-AF65-F5344CB8AC3E}">
        <p14:creationId xmlns:p14="http://schemas.microsoft.com/office/powerpoint/2010/main" val="2639829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14</a:t>
            </a:fld>
            <a:endParaRPr lang="en-GB"/>
          </a:p>
        </p:txBody>
      </p:sp>
    </p:spTree>
    <p:extLst>
      <p:ext uri="{BB962C8B-B14F-4D97-AF65-F5344CB8AC3E}">
        <p14:creationId xmlns:p14="http://schemas.microsoft.com/office/powerpoint/2010/main" val="3303221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https://arstechnica.com/tech-policy/2011/09/univac-the-troubled-life-of-americas-first-computer/</a:t>
            </a:r>
          </a:p>
          <a:p>
            <a:pPr algn="l"/>
            <a:endParaRPr lang="en-GB" sz="1800" b="0" i="0" u="none" strike="noStrike" baseline="0" dirty="0">
              <a:solidFill>
                <a:srgbClr val="000000"/>
              </a:solidFill>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810ED4A-0633-4AEA-93EB-867478A7E53D}" type="slidenum">
              <a:rPr lang="en-GB" smtClean="0"/>
              <a:t>18</a:t>
            </a:fld>
            <a:endParaRPr lang="en-GB"/>
          </a:p>
        </p:txBody>
      </p:sp>
    </p:spTree>
    <p:extLst>
      <p:ext uri="{BB962C8B-B14F-4D97-AF65-F5344CB8AC3E}">
        <p14:creationId xmlns:p14="http://schemas.microsoft.com/office/powerpoint/2010/main" val="804008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https://subscription.packtpub.com/book/application_development/9781787126992/1/ch01lvl1sec9/distributed-computing</a:t>
            </a:r>
          </a:p>
          <a:p>
            <a:endParaRPr lang="en-GB" dirty="0"/>
          </a:p>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19</a:t>
            </a:fld>
            <a:endParaRPr lang="en-GB"/>
          </a:p>
        </p:txBody>
      </p:sp>
    </p:spTree>
    <p:extLst>
      <p:ext uri="{BB962C8B-B14F-4D97-AF65-F5344CB8AC3E}">
        <p14:creationId xmlns:p14="http://schemas.microsoft.com/office/powerpoint/2010/main" val="2201762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FFFFFF"/>
                </a:solidFill>
                <a:effectLst/>
                <a:latin typeface="Arial" panose="020B0604020202020204" pitchFamily="34" charset="0"/>
              </a:rPr>
              <a:t>https://docs.oracle.com/cd/E15261_01/tuxedo/docs11gr1/tech_articles/CORBA.html</a:t>
            </a:r>
          </a:p>
          <a:p>
            <a:endParaRPr lang="en-GB" b="0" i="0" dirty="0">
              <a:solidFill>
                <a:srgbClr val="FFFFFF"/>
              </a:solidFill>
              <a:effectLst/>
              <a:latin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20</a:t>
            </a:fld>
            <a:endParaRPr lang="en-GB"/>
          </a:p>
        </p:txBody>
      </p:sp>
    </p:spTree>
    <p:extLst>
      <p:ext uri="{BB962C8B-B14F-4D97-AF65-F5344CB8AC3E}">
        <p14:creationId xmlns:p14="http://schemas.microsoft.com/office/powerpoint/2010/main" val="2035468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FFFFFF"/>
                </a:solidFill>
                <a:effectLst/>
                <a:latin typeface="Arial" panose="020B0604020202020204" pitchFamily="34" charset="0"/>
              </a:rPr>
              <a:t>https://www.f5.com/labs/articles/education/what-is-a-distributed-denial-of-service-attack-</a:t>
            </a:r>
          </a:p>
          <a:p>
            <a:endParaRPr lang="en-GB" b="0" i="0" dirty="0">
              <a:solidFill>
                <a:srgbClr val="FFFFFF"/>
              </a:solidFill>
              <a:effectLst/>
              <a:latin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22</a:t>
            </a:fld>
            <a:endParaRPr lang="en-GB"/>
          </a:p>
        </p:txBody>
      </p:sp>
    </p:spTree>
    <p:extLst>
      <p:ext uri="{BB962C8B-B14F-4D97-AF65-F5344CB8AC3E}">
        <p14:creationId xmlns:p14="http://schemas.microsoft.com/office/powerpoint/2010/main" val="688765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https://dzone.com/articles/microservices-vs-soa-whats-the-difference</a:t>
            </a:r>
          </a:p>
          <a:p>
            <a:endParaRPr lang="en-GB" dirty="0"/>
          </a:p>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23</a:t>
            </a:fld>
            <a:endParaRPr lang="en-GB"/>
          </a:p>
        </p:txBody>
      </p:sp>
    </p:spTree>
    <p:extLst>
      <p:ext uri="{BB962C8B-B14F-4D97-AF65-F5344CB8AC3E}">
        <p14:creationId xmlns:p14="http://schemas.microsoft.com/office/powerpoint/2010/main" val="4031925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https://airbus-cyber-security.com/products-and-services/innovation/fine-grained-access-control-and-encryption-technology-facet/</a:t>
            </a:r>
          </a:p>
          <a:p>
            <a:endParaRPr lang="en-GB" dirty="0"/>
          </a:p>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26</a:t>
            </a:fld>
            <a:endParaRPr lang="en-GB"/>
          </a:p>
        </p:txBody>
      </p:sp>
    </p:spTree>
    <p:extLst>
      <p:ext uri="{BB962C8B-B14F-4D97-AF65-F5344CB8AC3E}">
        <p14:creationId xmlns:p14="http://schemas.microsoft.com/office/powerpoint/2010/main" val="2285114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30</a:t>
            </a:fld>
            <a:endParaRPr lang="en-GB"/>
          </a:p>
        </p:txBody>
      </p:sp>
    </p:spTree>
    <p:extLst>
      <p:ext uri="{BB962C8B-B14F-4D97-AF65-F5344CB8AC3E}">
        <p14:creationId xmlns:p14="http://schemas.microsoft.com/office/powerpoint/2010/main" val="11094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34</a:t>
            </a:fld>
            <a:endParaRPr lang="en-GB"/>
          </a:p>
        </p:txBody>
      </p:sp>
    </p:spTree>
    <p:extLst>
      <p:ext uri="{BB962C8B-B14F-4D97-AF65-F5344CB8AC3E}">
        <p14:creationId xmlns:p14="http://schemas.microsoft.com/office/powerpoint/2010/main" val="3773457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35</a:t>
            </a:fld>
            <a:endParaRPr lang="en-GB"/>
          </a:p>
        </p:txBody>
      </p:sp>
    </p:spTree>
    <p:extLst>
      <p:ext uri="{BB962C8B-B14F-4D97-AF65-F5344CB8AC3E}">
        <p14:creationId xmlns:p14="http://schemas.microsoft.com/office/powerpoint/2010/main" val="2850268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36</a:t>
            </a:fld>
            <a:endParaRPr lang="en-GB"/>
          </a:p>
        </p:txBody>
      </p:sp>
    </p:spTree>
    <p:extLst>
      <p:ext uri="{BB962C8B-B14F-4D97-AF65-F5344CB8AC3E}">
        <p14:creationId xmlns:p14="http://schemas.microsoft.com/office/powerpoint/2010/main" val="980051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37</a:t>
            </a:fld>
            <a:endParaRPr lang="en-GB"/>
          </a:p>
        </p:txBody>
      </p:sp>
    </p:spTree>
    <p:extLst>
      <p:ext uri="{BB962C8B-B14F-4D97-AF65-F5344CB8AC3E}">
        <p14:creationId xmlns:p14="http://schemas.microsoft.com/office/powerpoint/2010/main" val="40239134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10ED4A-0633-4AEA-93EB-867478A7E53D}" type="slidenum">
              <a:rPr lang="en-GB" smtClean="0"/>
              <a:t>38</a:t>
            </a:fld>
            <a:endParaRPr lang="en-GB"/>
          </a:p>
        </p:txBody>
      </p:sp>
    </p:spTree>
    <p:extLst>
      <p:ext uri="{BB962C8B-B14F-4D97-AF65-F5344CB8AC3E}">
        <p14:creationId xmlns:p14="http://schemas.microsoft.com/office/powerpoint/2010/main" val="7139929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CBDCB-3ABC-CA03-8CA6-1C1B6B821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3F6D6-6906-F97B-44D2-661EEA1A87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B947E-947B-A95D-E57C-FD606047FAA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25D0F6E-B219-61B7-90EF-D321D82BEE48}"/>
              </a:ext>
            </a:extLst>
          </p:cNvPr>
          <p:cNvSpPr>
            <a:spLocks noGrp="1"/>
          </p:cNvSpPr>
          <p:nvPr>
            <p:ph type="sldNum" sz="quarter" idx="10"/>
          </p:nvPr>
        </p:nvSpPr>
        <p:spPr/>
        <p:txBody>
          <a:bodyPr/>
          <a:lstStyle/>
          <a:p>
            <a:fld id="{FA055A70-B77A-4F6C-A450-67C963F66CEA}" type="slidenum">
              <a:rPr lang="en-GB" smtClean="0"/>
              <a:t>44</a:t>
            </a:fld>
            <a:endParaRPr lang="en-GB"/>
          </a:p>
        </p:txBody>
      </p:sp>
    </p:spTree>
    <p:extLst>
      <p:ext uri="{BB962C8B-B14F-4D97-AF65-F5344CB8AC3E}">
        <p14:creationId xmlns:p14="http://schemas.microsoft.com/office/powerpoint/2010/main" val="1801641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CCB4B624-5098-4F9B-9DF1-1ED249FA1B9B}"/>
              </a:ext>
            </a:extLst>
          </p:cNvPr>
          <p:cNvSpPr>
            <a:spLocks noGrp="1"/>
          </p:cNvSpPr>
          <p:nvPr>
            <p:ph type="body" idx="1" hasCustomPrompt="1"/>
          </p:nvPr>
        </p:nvSpPr>
        <p:spPr>
          <a:xfrm>
            <a:off x="773590" y="4059231"/>
            <a:ext cx="7894002" cy="609796"/>
          </a:xfrm>
        </p:spPr>
        <p:txBody>
          <a:bodyPr anchor="t">
            <a:noAutofit/>
          </a:bodyPr>
          <a:lstStyle>
            <a:lvl1pPr marL="0" indent="0" algn="ctr">
              <a:buNone/>
              <a:defRPr sz="4000" b="0">
                <a:solidFill>
                  <a:schemeClr val="bg1"/>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 or speaker</a:t>
            </a:r>
          </a:p>
        </p:txBody>
      </p:sp>
      <p:sp>
        <p:nvSpPr>
          <p:cNvPr id="11" name="Title 1">
            <a:extLst>
              <a:ext uri="{FF2B5EF4-FFF2-40B4-BE49-F238E27FC236}">
                <a16:creationId xmlns:a16="http://schemas.microsoft.com/office/drawing/2014/main" id="{CD8BA8A6-2B14-4932-8E99-0BCD60256AD2}"/>
              </a:ext>
            </a:extLst>
          </p:cNvPr>
          <p:cNvSpPr>
            <a:spLocks noGrp="1"/>
          </p:cNvSpPr>
          <p:nvPr>
            <p:ph type="title" hasCustomPrompt="1"/>
          </p:nvPr>
        </p:nvSpPr>
        <p:spPr>
          <a:xfrm>
            <a:off x="780891" y="2719094"/>
            <a:ext cx="7886700" cy="1117800"/>
          </a:xfrm>
        </p:spPr>
        <p:txBody>
          <a:bodyPr>
            <a:noAutofit/>
          </a:bodyPr>
          <a:lstStyle>
            <a:lvl1pPr>
              <a:defRPr sz="10400"/>
            </a:lvl1pPr>
          </a:lstStyle>
          <a:p>
            <a:r>
              <a:rPr lang="en-US" dirty="0"/>
              <a:t>Title</a:t>
            </a:r>
            <a:endParaRPr lang="en-GB" dirty="0"/>
          </a:p>
        </p:txBody>
      </p:sp>
    </p:spTree>
    <p:extLst>
      <p:ext uri="{BB962C8B-B14F-4D97-AF65-F5344CB8AC3E}">
        <p14:creationId xmlns:p14="http://schemas.microsoft.com/office/powerpoint/2010/main" val="1523317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Box with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99C793-7AC9-4757-9914-6FBAC39A0FEF}"/>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9" name="Title 1">
            <a:extLst>
              <a:ext uri="{FF2B5EF4-FFF2-40B4-BE49-F238E27FC236}">
                <a16:creationId xmlns:a16="http://schemas.microsoft.com/office/drawing/2014/main" id="{4BC39D7E-A97E-4BB4-9D19-B3694BB7B231}"/>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
        <p:nvSpPr>
          <p:cNvPr id="4" name="Content Placeholder 2">
            <a:extLst>
              <a:ext uri="{FF2B5EF4-FFF2-40B4-BE49-F238E27FC236}">
                <a16:creationId xmlns:a16="http://schemas.microsoft.com/office/drawing/2014/main" id="{5CC1FB83-3EB8-484C-BD46-C79855472E39}"/>
              </a:ext>
            </a:extLst>
          </p:cNvPr>
          <p:cNvSpPr>
            <a:spLocks noGrp="1"/>
          </p:cNvSpPr>
          <p:nvPr>
            <p:ph sz="half" idx="1"/>
          </p:nvPr>
        </p:nvSpPr>
        <p:spPr>
          <a:xfrm>
            <a:off x="628650" y="1825624"/>
            <a:ext cx="7886700" cy="478974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69690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Box Blank">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6035A14-D597-4506-9048-382F6C3BF34D}"/>
              </a:ext>
            </a:extLst>
          </p:cNvPr>
          <p:cNvSpPr>
            <a:spLocks noGrp="1"/>
          </p:cNvSpPr>
          <p:nvPr>
            <p:ph idx="1"/>
          </p:nvPr>
        </p:nvSpPr>
        <p:spPr>
          <a:xfrm>
            <a:off x="628650" y="1189973"/>
            <a:ext cx="7886700" cy="5425401"/>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71581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9DF49-43C4-4065-AC6A-A9CEB9484997}"/>
              </a:ext>
            </a:extLst>
          </p:cNvPr>
          <p:cNvSpPr>
            <a:spLocks noGrp="1"/>
          </p:cNvSpPr>
          <p:nvPr>
            <p:ph sz="half" idx="1"/>
          </p:nvPr>
        </p:nvSpPr>
        <p:spPr>
          <a:xfrm>
            <a:off x="628650" y="1825624"/>
            <a:ext cx="3867150" cy="478974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E69D98FF-11E9-4AAD-88A6-2B08ECEFAA8F}"/>
              </a:ext>
            </a:extLst>
          </p:cNvPr>
          <p:cNvSpPr>
            <a:spLocks noGrp="1"/>
          </p:cNvSpPr>
          <p:nvPr>
            <p:ph sz="half" idx="2"/>
          </p:nvPr>
        </p:nvSpPr>
        <p:spPr>
          <a:xfrm>
            <a:off x="4648200" y="1825624"/>
            <a:ext cx="3867150" cy="4789749"/>
          </a:xfrm>
        </p:spPr>
        <p:txBody>
          <a:bodyPr/>
          <a:lstStyle>
            <a:lvl1pPr marL="457200" indent="-457200">
              <a:buFont typeface="Wingdings" panose="05000000000000000000" pitchFamily="2" charset="2"/>
              <a:buChar char="§"/>
              <a:defRPr>
                <a:latin typeface="Arial" panose="020B0604020202020204" pitchFamily="34" charset="0"/>
                <a:cs typeface="Arial" panose="020B0604020202020204" pitchFamily="34" charset="0"/>
              </a:defRPr>
            </a:lvl1pPr>
            <a:lvl2pPr marL="800100" indent="-342900">
              <a:buFont typeface="Wingdings" panose="05000000000000000000" pitchFamily="2" charset="2"/>
              <a:buChar char="§"/>
              <a:defRPr>
                <a:latin typeface="Arial" panose="020B0604020202020204" pitchFamily="34" charset="0"/>
                <a:cs typeface="Arial" panose="020B0604020202020204" pitchFamily="34" charset="0"/>
              </a:defRPr>
            </a:lvl2pPr>
            <a:lvl3pPr marL="1257300" indent="-342900">
              <a:buFont typeface="Wingdings" panose="05000000000000000000" pitchFamily="2" charset="2"/>
              <a:buChar char="§"/>
              <a:defRPr>
                <a:latin typeface="Arial" panose="020B0604020202020204" pitchFamily="34" charset="0"/>
                <a:cs typeface="Arial" panose="020B0604020202020204" pitchFamily="34" charset="0"/>
              </a:defRPr>
            </a:lvl3pPr>
            <a:lvl4pPr marL="1657350" indent="-285750">
              <a:buFont typeface="Wingdings" panose="05000000000000000000" pitchFamily="2" charset="2"/>
              <a:buChar char="§"/>
              <a:defRPr>
                <a:latin typeface="Arial" panose="020B0604020202020204" pitchFamily="34" charset="0"/>
                <a:cs typeface="Arial" panose="020B0604020202020204" pitchFamily="34" charset="0"/>
              </a:defRPr>
            </a:lvl4pPr>
            <a:lvl5pPr marL="2114550" indent="-28575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a:extLst>
              <a:ext uri="{FF2B5EF4-FFF2-40B4-BE49-F238E27FC236}">
                <a16:creationId xmlns:a16="http://schemas.microsoft.com/office/drawing/2014/main" id="{C5CDF5C6-30DB-4505-B876-4C90E94ADE5C}"/>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2" name="Title 1">
            <a:extLst>
              <a:ext uri="{FF2B5EF4-FFF2-40B4-BE49-F238E27FC236}">
                <a16:creationId xmlns:a16="http://schemas.microsoft.com/office/drawing/2014/main" id="{D3FB99D4-759B-46BF-91F0-548C9A534F3D}"/>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507771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A8EC47-221B-4789-B7F9-BCD6D2CC59FC}"/>
              </a:ext>
            </a:extLst>
          </p:cNvPr>
          <p:cNvSpPr>
            <a:spLocks noGrp="1"/>
          </p:cNvSpPr>
          <p:nvPr>
            <p:ph type="body" idx="1"/>
          </p:nvPr>
        </p:nvSpPr>
        <p:spPr>
          <a:xfrm>
            <a:off x="630238" y="1895279"/>
            <a:ext cx="3868737" cy="609796"/>
          </a:xfrm>
        </p:spPr>
        <p:txBody>
          <a:bodyPr anchor="t">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1AEB5446-397F-487C-8394-43B14116DAF1}"/>
              </a:ext>
            </a:extLst>
          </p:cNvPr>
          <p:cNvSpPr>
            <a:spLocks noGrp="1"/>
          </p:cNvSpPr>
          <p:nvPr>
            <p:ph sz="half" idx="2"/>
          </p:nvPr>
        </p:nvSpPr>
        <p:spPr>
          <a:xfrm>
            <a:off x="630238" y="2505074"/>
            <a:ext cx="3868737" cy="411029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B4DA5EC4-410E-4804-9237-D4F941EA7756}"/>
              </a:ext>
            </a:extLst>
          </p:cNvPr>
          <p:cNvSpPr>
            <a:spLocks noGrp="1"/>
          </p:cNvSpPr>
          <p:nvPr>
            <p:ph type="body" sz="quarter" idx="3"/>
          </p:nvPr>
        </p:nvSpPr>
        <p:spPr>
          <a:xfrm>
            <a:off x="4629150" y="1895279"/>
            <a:ext cx="3887788" cy="609796"/>
          </a:xfrm>
        </p:spPr>
        <p:txBody>
          <a:bodyPr anchor="t"/>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38BEE6D6-DF48-49D8-903C-2DD486BC29EA}"/>
              </a:ext>
            </a:extLst>
          </p:cNvPr>
          <p:cNvSpPr>
            <a:spLocks noGrp="1"/>
          </p:cNvSpPr>
          <p:nvPr>
            <p:ph sz="quarter" idx="4"/>
          </p:nvPr>
        </p:nvSpPr>
        <p:spPr>
          <a:xfrm>
            <a:off x="4629150" y="2505074"/>
            <a:ext cx="3887788" cy="4110299"/>
          </a:xfrm>
        </p:spPr>
        <p:txBody>
          <a:bodyPr/>
          <a:lstStyle>
            <a:lvl1pPr marL="228600" indent="-228600">
              <a:buFont typeface="Wingdings" panose="05000000000000000000" pitchFamily="2" charset="2"/>
              <a:buChar char="§"/>
              <a:defRPr>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2" name="Picture 11">
            <a:extLst>
              <a:ext uri="{FF2B5EF4-FFF2-40B4-BE49-F238E27FC236}">
                <a16:creationId xmlns:a16="http://schemas.microsoft.com/office/drawing/2014/main" id="{3273A1A1-33D8-4F50-AB33-E280C32D8DB2}"/>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3" name="Title 1">
            <a:extLst>
              <a:ext uri="{FF2B5EF4-FFF2-40B4-BE49-F238E27FC236}">
                <a16:creationId xmlns:a16="http://schemas.microsoft.com/office/drawing/2014/main" id="{BF690690-42D6-4203-BA5D-A5D7D3C17803}"/>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744215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CF9D21-C506-435F-B055-16AF403BA6C4}"/>
              </a:ext>
            </a:extLst>
          </p:cNvPr>
          <p:cNvSpPr>
            <a:spLocks noGrp="1"/>
          </p:cNvSpPr>
          <p:nvPr>
            <p:ph idx="1"/>
          </p:nvPr>
        </p:nvSpPr>
        <p:spPr>
          <a:xfrm>
            <a:off x="3887788" y="2049462"/>
            <a:ext cx="4629150" cy="4565912"/>
          </a:xfrm>
        </p:spPr>
        <p:txBody>
          <a:bodyPr/>
          <a:lstStyle>
            <a:lvl1pPr marL="228600" indent="-228600">
              <a:buFont typeface="Wingdings" panose="05000000000000000000" pitchFamily="2" charset="2"/>
              <a:buChar char="§"/>
              <a:defRPr sz="2800">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sz="24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2000"/>
            </a:lvl3pPr>
            <a:lvl4pPr marL="1600200" indent="-228600">
              <a:buFont typeface="Wingdings" panose="05000000000000000000" pitchFamily="2" charset="2"/>
              <a:buChar char="§"/>
              <a:defRPr sz="1800"/>
            </a:lvl4pPr>
            <a:lvl5pPr marL="2057400" indent="-228600">
              <a:buFont typeface="Wingdings" panose="05000000000000000000" pitchFamily="2" charset="2"/>
              <a:buChar char="§"/>
              <a:defRPr sz="18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41E03A33-8131-467D-B50F-4EE3EE498E55}"/>
              </a:ext>
            </a:extLst>
          </p:cNvPr>
          <p:cNvSpPr>
            <a:spLocks noGrp="1"/>
          </p:cNvSpPr>
          <p:nvPr>
            <p:ph type="body" sz="half" idx="2"/>
          </p:nvPr>
        </p:nvSpPr>
        <p:spPr>
          <a:xfrm>
            <a:off x="630238" y="2057400"/>
            <a:ext cx="2949575" cy="4565912"/>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0" name="Picture 9">
            <a:extLst>
              <a:ext uri="{FF2B5EF4-FFF2-40B4-BE49-F238E27FC236}">
                <a16:creationId xmlns:a16="http://schemas.microsoft.com/office/drawing/2014/main" id="{74390FC3-3DC2-4EE6-A8E6-7A2C2DC6C36C}"/>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2B26EBCA-CB6D-4447-BEE7-EB92812EC828}"/>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50028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CF9D21-C506-435F-B055-16AF403BA6C4}"/>
              </a:ext>
            </a:extLst>
          </p:cNvPr>
          <p:cNvSpPr>
            <a:spLocks noGrp="1"/>
          </p:cNvSpPr>
          <p:nvPr>
            <p:ph idx="1"/>
          </p:nvPr>
        </p:nvSpPr>
        <p:spPr>
          <a:xfrm>
            <a:off x="630238" y="2057400"/>
            <a:ext cx="4629150" cy="4565912"/>
          </a:xfrm>
        </p:spPr>
        <p:txBody>
          <a:bodyPr/>
          <a:lstStyle>
            <a:lvl1pPr marL="228600" indent="-228600">
              <a:buFont typeface="Wingdings" panose="05000000000000000000" pitchFamily="2" charset="2"/>
              <a:buChar char="§"/>
              <a:defRPr sz="2800">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sz="24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2000"/>
            </a:lvl3pPr>
            <a:lvl4pPr marL="1600200" indent="-228600">
              <a:buFont typeface="Wingdings" panose="05000000000000000000" pitchFamily="2" charset="2"/>
              <a:buChar char="§"/>
              <a:defRPr sz="1800"/>
            </a:lvl4pPr>
            <a:lvl5pPr marL="2057400" indent="-228600">
              <a:buFont typeface="Wingdings" panose="05000000000000000000" pitchFamily="2" charset="2"/>
              <a:buChar char="§"/>
              <a:defRPr sz="18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74390FC3-3DC2-4EE6-A8E6-7A2C2DC6C36C}"/>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2B26EBCA-CB6D-4447-BEE7-EB92812EC828}"/>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
        <p:nvSpPr>
          <p:cNvPr id="6" name="Text Placeholder 3">
            <a:extLst>
              <a:ext uri="{FF2B5EF4-FFF2-40B4-BE49-F238E27FC236}">
                <a16:creationId xmlns:a16="http://schemas.microsoft.com/office/drawing/2014/main" id="{A048D950-7CC0-458E-9C72-7F1D3D60F0DF}"/>
              </a:ext>
            </a:extLst>
          </p:cNvPr>
          <p:cNvSpPr>
            <a:spLocks noGrp="1"/>
          </p:cNvSpPr>
          <p:nvPr>
            <p:ph type="body" sz="half" idx="10"/>
          </p:nvPr>
        </p:nvSpPr>
        <p:spPr>
          <a:xfrm>
            <a:off x="5579889" y="2036936"/>
            <a:ext cx="2949575" cy="4565912"/>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306008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547DF5A-1D85-47E4-B730-5C5682024A35}"/>
              </a:ext>
            </a:extLst>
          </p:cNvPr>
          <p:cNvSpPr>
            <a:spLocks noGrp="1"/>
          </p:cNvSpPr>
          <p:nvPr>
            <p:ph type="pic" idx="1"/>
          </p:nvPr>
        </p:nvSpPr>
        <p:spPr>
          <a:xfrm>
            <a:off x="3887788" y="2057400"/>
            <a:ext cx="4629150" cy="45579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9A641E7-ECCC-44F3-AF98-94E08DC2D82F}"/>
              </a:ext>
            </a:extLst>
          </p:cNvPr>
          <p:cNvSpPr>
            <a:spLocks noGrp="1"/>
          </p:cNvSpPr>
          <p:nvPr>
            <p:ph type="body" sz="half" idx="2"/>
          </p:nvPr>
        </p:nvSpPr>
        <p:spPr>
          <a:xfrm>
            <a:off x="630238" y="2057400"/>
            <a:ext cx="2949575" cy="4557974"/>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0" name="Picture 9">
            <a:extLst>
              <a:ext uri="{FF2B5EF4-FFF2-40B4-BE49-F238E27FC236}">
                <a16:creationId xmlns:a16="http://schemas.microsoft.com/office/drawing/2014/main" id="{BEB280A4-E4E7-4E02-9A87-745C9528F1C3}"/>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DB336DFF-0B62-4F84-B219-82DA8B99AB3A}"/>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3140549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Right">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E1FD28FB-E2D1-4631-8058-294B09273999}"/>
              </a:ext>
            </a:extLst>
          </p:cNvPr>
          <p:cNvSpPr>
            <a:spLocks noGrp="1"/>
          </p:cNvSpPr>
          <p:nvPr>
            <p:ph type="pic" idx="10"/>
          </p:nvPr>
        </p:nvSpPr>
        <p:spPr>
          <a:xfrm>
            <a:off x="620345" y="2057400"/>
            <a:ext cx="4629150" cy="45579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9A641E7-ECCC-44F3-AF98-94E08DC2D82F}"/>
              </a:ext>
            </a:extLst>
          </p:cNvPr>
          <p:cNvSpPr>
            <a:spLocks noGrp="1"/>
          </p:cNvSpPr>
          <p:nvPr>
            <p:ph type="body" sz="half" idx="2"/>
          </p:nvPr>
        </p:nvSpPr>
        <p:spPr>
          <a:xfrm>
            <a:off x="5567363" y="2057400"/>
            <a:ext cx="2949575" cy="4557974"/>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10" name="Picture 9">
            <a:extLst>
              <a:ext uri="{FF2B5EF4-FFF2-40B4-BE49-F238E27FC236}">
                <a16:creationId xmlns:a16="http://schemas.microsoft.com/office/drawing/2014/main" id="{BEB280A4-E4E7-4E02-9A87-745C9528F1C3}"/>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11" name="Title 1">
            <a:extLst>
              <a:ext uri="{FF2B5EF4-FFF2-40B4-BE49-F238E27FC236}">
                <a16:creationId xmlns:a16="http://schemas.microsoft.com/office/drawing/2014/main" id="{DB336DFF-0B62-4F84-B219-82DA8B99AB3A}"/>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3519366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99C793-7AC9-4757-9914-6FBAC39A0FEF}"/>
              </a:ext>
            </a:extLst>
          </p:cNvPr>
          <p:cNvPicPr>
            <a:picLocks noChangeAspect="1"/>
          </p:cNvPicPr>
          <p:nvPr userDrawn="1"/>
        </p:nvPicPr>
        <p:blipFill rotWithShape="1">
          <a:blip r:embed="rId2"/>
          <a:srcRect t="16054" b="74812"/>
          <a:stretch/>
        </p:blipFill>
        <p:spPr>
          <a:xfrm>
            <a:off x="1430" y="1102290"/>
            <a:ext cx="9142570" cy="626302"/>
          </a:xfrm>
          <a:prstGeom prst="rect">
            <a:avLst/>
          </a:prstGeom>
        </p:spPr>
      </p:pic>
      <p:sp>
        <p:nvSpPr>
          <p:cNvPr id="9" name="Title 1">
            <a:extLst>
              <a:ext uri="{FF2B5EF4-FFF2-40B4-BE49-F238E27FC236}">
                <a16:creationId xmlns:a16="http://schemas.microsoft.com/office/drawing/2014/main" id="{4BC39D7E-A97E-4BB4-9D19-B3694BB7B231}"/>
              </a:ext>
            </a:extLst>
          </p:cNvPr>
          <p:cNvSpPr>
            <a:spLocks noGrp="1"/>
          </p:cNvSpPr>
          <p:nvPr>
            <p:ph type="title"/>
          </p:nvPr>
        </p:nvSpPr>
        <p:spPr>
          <a:xfrm>
            <a:off x="265395" y="1169552"/>
            <a:ext cx="7886700" cy="521462"/>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571559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 Only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683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mpty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E53945-D35A-42DA-BE92-A93558FEBF1E}"/>
              </a:ext>
            </a:extLst>
          </p:cNvPr>
          <p:cNvPicPr>
            <a:picLocks noChangeAspect="1"/>
          </p:cNvPicPr>
          <p:nvPr userDrawn="1"/>
        </p:nvPicPr>
        <p:blipFill>
          <a:blip r:embed="rId2"/>
          <a:stretch>
            <a:fillRect/>
          </a:stretch>
        </p:blipFill>
        <p:spPr>
          <a:xfrm>
            <a:off x="0" y="0"/>
            <a:ext cx="9142570" cy="6856392"/>
          </a:xfrm>
          <a:prstGeom prst="rect">
            <a:avLst/>
          </a:prstGeom>
        </p:spPr>
      </p:pic>
    </p:spTree>
    <p:extLst>
      <p:ext uri="{BB962C8B-B14F-4D97-AF65-F5344CB8AC3E}">
        <p14:creationId xmlns:p14="http://schemas.microsoft.com/office/powerpoint/2010/main" val="3335265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A303D8D-0EDB-41F6-B4DB-CC4B5EE058E0}"/>
              </a:ext>
            </a:extLst>
          </p:cNvPr>
          <p:cNvPicPr>
            <a:picLocks noChangeAspect="1"/>
          </p:cNvPicPr>
          <p:nvPr userDrawn="1"/>
        </p:nvPicPr>
        <p:blipFill rotWithShape="1">
          <a:blip r:embed="rId14"/>
          <a:srcRect b="84129"/>
          <a:stretch/>
        </p:blipFill>
        <p:spPr>
          <a:xfrm>
            <a:off x="1430" y="1609"/>
            <a:ext cx="9142570" cy="1088155"/>
          </a:xfrm>
          <a:prstGeom prst="rect">
            <a:avLst/>
          </a:prstGeom>
        </p:spPr>
      </p:pic>
      <p:sp>
        <p:nvSpPr>
          <p:cNvPr id="2" name="Title Placeholder 1">
            <a:extLst>
              <a:ext uri="{FF2B5EF4-FFF2-40B4-BE49-F238E27FC236}">
                <a16:creationId xmlns:a16="http://schemas.microsoft.com/office/drawing/2014/main" id="{10FC6FBC-4483-4B5E-92A0-380E1891E52E}"/>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2472488-DD78-470E-B80C-585120F7CB7F}"/>
              </a:ext>
            </a:extLst>
          </p:cNvPr>
          <p:cNvSpPr>
            <a:spLocks noGrp="1"/>
          </p:cNvSpPr>
          <p:nvPr>
            <p:ph type="body" idx="1"/>
          </p:nvPr>
        </p:nvSpPr>
        <p:spPr>
          <a:xfrm>
            <a:off x="628650" y="1903956"/>
            <a:ext cx="7886700" cy="471141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532877168"/>
      </p:ext>
    </p:extLst>
  </p:cSld>
  <p:clrMap bg1="lt1" tx1="dk1" bg2="lt2" tx2="dk2" accent1="accent1" accent2="accent2" accent3="accent3" accent4="accent4" accent5="accent5" accent6="accent6" hlink="hlink" folHlink="folHlink"/>
  <p:sldLayoutIdLst>
    <p:sldLayoutId id="2147483668" r:id="rId1"/>
    <p:sldLayoutId id="2147483682" r:id="rId2"/>
    <p:sldLayoutId id="2147483674" r:id="rId3"/>
    <p:sldLayoutId id="2147483671" r:id="rId4"/>
    <p:sldLayoutId id="2147483672" r:id="rId5"/>
    <p:sldLayoutId id="2147483675" r:id="rId6"/>
    <p:sldLayoutId id="2147483679" r:id="rId7"/>
    <p:sldLayoutId id="2147483676" r:id="rId8"/>
    <p:sldLayoutId id="2147483680" r:id="rId9"/>
    <p:sldLayoutId id="2147483673" r:id="rId10"/>
    <p:sldLayoutId id="2147483677" r:id="rId11"/>
    <p:sldLayoutId id="2147483681" r:id="rId12"/>
  </p:sldLayoutIdLst>
  <p:txStyles>
    <p:titleStyle>
      <a:lvl1pPr algn="l" defTabSz="914400" rtl="0" eaLnBrk="1" latinLnBrk="0" hangingPunct="1">
        <a:lnSpc>
          <a:spcPct val="90000"/>
        </a:lnSpc>
        <a:spcBef>
          <a:spcPct val="0"/>
        </a:spcBef>
        <a:buNone/>
        <a:defRPr sz="2400" b="1"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Create,_read,_update_and_delete"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hyperlink" Target="https://codeburst.io/this-is-how-easy-it-is-to-create-a-rest-api-8a25122ab1f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truecrypt.sourceforge.net/"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searchdatacenter.techtarget.com/definition/infrastructure"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www.comparitech.com/author/paul-bischoff/"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2E76AF-A256-ABE7-1F2E-7EA1DA0A57AC}"/>
              </a:ext>
            </a:extLst>
          </p:cNvPr>
          <p:cNvPicPr>
            <a:picLocks noChangeAspect="1"/>
          </p:cNvPicPr>
          <p:nvPr/>
        </p:nvPicPr>
        <p:blipFill>
          <a:blip r:embed="rId3"/>
          <a:stretch>
            <a:fillRect/>
          </a:stretch>
        </p:blipFill>
        <p:spPr>
          <a:xfrm>
            <a:off x="0" y="1140716"/>
            <a:ext cx="6160770" cy="4791454"/>
          </a:xfrm>
          <a:prstGeom prst="rect">
            <a:avLst/>
          </a:prstGeom>
          <a:ln>
            <a:noFill/>
          </a:ln>
          <a:effectLst>
            <a:softEdge rad="112500"/>
          </a:effectLst>
        </p:spPr>
      </p:pic>
      <p:sp>
        <p:nvSpPr>
          <p:cNvPr id="3" name="Title 2">
            <a:extLst>
              <a:ext uri="{FF2B5EF4-FFF2-40B4-BE49-F238E27FC236}">
                <a16:creationId xmlns:a16="http://schemas.microsoft.com/office/drawing/2014/main" id="{68513017-27F3-46F5-BBCE-BF9CE7B1132B}"/>
              </a:ext>
            </a:extLst>
          </p:cNvPr>
          <p:cNvSpPr>
            <a:spLocks noGrp="1"/>
          </p:cNvSpPr>
          <p:nvPr>
            <p:ph type="title"/>
          </p:nvPr>
        </p:nvSpPr>
        <p:spPr>
          <a:xfrm>
            <a:off x="5391444" y="457201"/>
            <a:ext cx="3752556" cy="6391842"/>
          </a:xfrm>
        </p:spPr>
        <p:txBody>
          <a:bodyPr vert="horz" lIns="91440" tIns="45720" rIns="91440" bIns="45720" rtlCol="0" anchor="ctr">
            <a:normAutofit/>
          </a:bodyPr>
          <a:lstStyle/>
          <a:p>
            <a:pPr algn="ctr"/>
            <a:r>
              <a:rPr lang="en-US" sz="3600" dirty="0">
                <a:solidFill>
                  <a:srgbClr val="C00000"/>
                </a:solidFill>
                <a:effectLst>
                  <a:outerShdw blurRad="38100" dist="38100" dir="2700000" algn="tl">
                    <a:srgbClr val="000000">
                      <a:alpha val="43137"/>
                    </a:srgbClr>
                  </a:outerShdw>
                </a:effectLst>
                <a:latin typeface="+mj-lt"/>
                <a:cs typeface="+mj-cs"/>
              </a:rPr>
              <a:t>Secure Software Development</a:t>
            </a: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MSc Computer Science</a:t>
            </a: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Dr Zahid Ullah</a:t>
            </a: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zahid.ullah@kaplan.com</a:t>
            </a: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This seminar is being recorded</a:t>
            </a: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Seminar 5</a:t>
            </a:r>
            <a:br>
              <a:rPr lang="en-US" sz="2400" dirty="0">
                <a:solidFill>
                  <a:srgbClr val="C00000"/>
                </a:solidFill>
                <a:latin typeface="+mj-lt"/>
                <a:cs typeface="+mj-cs"/>
              </a:rPr>
            </a:br>
            <a:endParaRPr lang="en-US" sz="2400" dirty="0">
              <a:solidFill>
                <a:srgbClr val="C00000"/>
              </a:solidFill>
              <a:latin typeface="+mj-lt"/>
              <a:cs typeface="+mj-cs"/>
            </a:endParaRPr>
          </a:p>
        </p:txBody>
      </p:sp>
    </p:spTree>
    <p:extLst>
      <p:ext uri="{BB962C8B-B14F-4D97-AF65-F5344CB8AC3E}">
        <p14:creationId xmlns:p14="http://schemas.microsoft.com/office/powerpoint/2010/main" val="103328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1E337-3D90-0454-BD02-E90A72D094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012F9F-06FE-57A1-8BE9-7778F7E3E09A}"/>
              </a:ext>
            </a:extLst>
          </p:cNvPr>
          <p:cNvSpPr>
            <a:spLocks noGrp="1"/>
          </p:cNvSpPr>
          <p:nvPr>
            <p:ph type="title"/>
          </p:nvPr>
        </p:nvSpPr>
        <p:spPr/>
        <p:txBody>
          <a:bodyPr/>
          <a:lstStyle/>
          <a:p>
            <a:r>
              <a:rPr lang="en-US" dirty="0"/>
              <a:t>Unit 09</a:t>
            </a:r>
            <a:endParaRPr lang="en-GB" dirty="0"/>
          </a:p>
        </p:txBody>
      </p:sp>
      <p:pic>
        <p:nvPicPr>
          <p:cNvPr id="6" name="Picture 5">
            <a:extLst>
              <a:ext uri="{FF2B5EF4-FFF2-40B4-BE49-F238E27FC236}">
                <a16:creationId xmlns:a16="http://schemas.microsoft.com/office/drawing/2014/main" id="{F6B9C9D8-57C8-0CAA-FB09-B87A56E361E4}"/>
              </a:ext>
            </a:extLst>
          </p:cNvPr>
          <p:cNvPicPr>
            <a:picLocks noChangeAspect="1"/>
          </p:cNvPicPr>
          <p:nvPr/>
        </p:nvPicPr>
        <p:blipFill>
          <a:blip r:embed="rId2"/>
          <a:stretch>
            <a:fillRect/>
          </a:stretch>
        </p:blipFill>
        <p:spPr>
          <a:xfrm>
            <a:off x="0" y="2105208"/>
            <a:ext cx="9144000" cy="3894491"/>
          </a:xfrm>
          <a:prstGeom prst="rect">
            <a:avLst/>
          </a:prstGeom>
        </p:spPr>
      </p:pic>
    </p:spTree>
    <p:extLst>
      <p:ext uri="{BB962C8B-B14F-4D97-AF65-F5344CB8AC3E}">
        <p14:creationId xmlns:p14="http://schemas.microsoft.com/office/powerpoint/2010/main" val="646374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FA2D07-521D-45A8-8DB7-EF6C1C559EF3}"/>
              </a:ext>
            </a:extLst>
          </p:cNvPr>
          <p:cNvPicPr>
            <a:picLocks noChangeAspect="1"/>
          </p:cNvPicPr>
          <p:nvPr/>
        </p:nvPicPr>
        <p:blipFill>
          <a:blip r:embed="rId3"/>
          <a:stretch>
            <a:fillRect/>
          </a:stretch>
        </p:blipFill>
        <p:spPr>
          <a:xfrm>
            <a:off x="0" y="1280161"/>
            <a:ext cx="9144000" cy="4688330"/>
          </a:xfrm>
          <a:prstGeom prst="rect">
            <a:avLst/>
          </a:prstGeom>
        </p:spPr>
      </p:pic>
      <p:sp>
        <p:nvSpPr>
          <p:cNvPr id="5" name="TextBox 4">
            <a:extLst>
              <a:ext uri="{FF2B5EF4-FFF2-40B4-BE49-F238E27FC236}">
                <a16:creationId xmlns:a16="http://schemas.microsoft.com/office/drawing/2014/main" id="{4AEE24A1-1D62-4E09-9AAC-127E584A5449}"/>
              </a:ext>
            </a:extLst>
          </p:cNvPr>
          <p:cNvSpPr txBox="1"/>
          <p:nvPr/>
        </p:nvSpPr>
        <p:spPr>
          <a:xfrm>
            <a:off x="199232" y="6291283"/>
            <a:ext cx="11267828" cy="261610"/>
          </a:xfrm>
          <a:prstGeom prst="rect">
            <a:avLst/>
          </a:prstGeom>
          <a:ln w="63500">
            <a:gradFill>
              <a:gsLst>
                <a:gs pos="0">
                  <a:srgbClr val="4D1451">
                    <a:lumMod val="90000"/>
                    <a:lumOff val="10000"/>
                  </a:srgbClr>
                </a:gs>
                <a:gs pos="98000">
                  <a:srgbClr val="DB342A"/>
                </a:gs>
              </a:gsLst>
              <a:lin ang="6000000" scaled="0"/>
            </a:gradFill>
            <a:miter lim="800000"/>
          </a:ln>
        </p:spPr>
        <p:txBody>
          <a:bodyPr wrap="none" rtlCol="0">
            <a:spAutoFit/>
          </a:bodyPr>
          <a:lstStyle/>
          <a:p>
            <a:r>
              <a:rPr lang="en-GB" sz="1100" dirty="0"/>
              <a:t>https://docs.microsoft.com/en-us/dotnet/architecture/microservices/architect-microservice-container-applications/direct-client-to-microservice-communication-versus-the-api-gateway-pattern</a:t>
            </a:r>
          </a:p>
        </p:txBody>
      </p:sp>
    </p:spTree>
    <p:extLst>
      <p:ext uri="{BB962C8B-B14F-4D97-AF65-F5344CB8AC3E}">
        <p14:creationId xmlns:p14="http://schemas.microsoft.com/office/powerpoint/2010/main" val="1872126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4DECA1-43AE-4BFC-934C-0C12DB6D34D5}"/>
              </a:ext>
            </a:extLst>
          </p:cNvPr>
          <p:cNvPicPr>
            <a:picLocks noChangeAspect="1"/>
          </p:cNvPicPr>
          <p:nvPr/>
        </p:nvPicPr>
        <p:blipFill>
          <a:blip r:embed="rId3"/>
          <a:stretch>
            <a:fillRect/>
          </a:stretch>
        </p:blipFill>
        <p:spPr>
          <a:xfrm>
            <a:off x="0" y="1140320"/>
            <a:ext cx="9144000" cy="5263159"/>
          </a:xfrm>
          <a:prstGeom prst="rect">
            <a:avLst/>
          </a:prstGeom>
        </p:spPr>
      </p:pic>
      <p:pic>
        <p:nvPicPr>
          <p:cNvPr id="8" name="Picture 7">
            <a:extLst>
              <a:ext uri="{FF2B5EF4-FFF2-40B4-BE49-F238E27FC236}">
                <a16:creationId xmlns:a16="http://schemas.microsoft.com/office/drawing/2014/main" id="{D175E569-2F91-44B8-88D8-95301DB54BFF}"/>
              </a:ext>
            </a:extLst>
          </p:cNvPr>
          <p:cNvPicPr>
            <a:picLocks noChangeAspect="1"/>
          </p:cNvPicPr>
          <p:nvPr/>
        </p:nvPicPr>
        <p:blipFill>
          <a:blip r:embed="rId4"/>
          <a:stretch>
            <a:fillRect/>
          </a:stretch>
        </p:blipFill>
        <p:spPr>
          <a:xfrm>
            <a:off x="5764802" y="2949667"/>
            <a:ext cx="3170192" cy="1644463"/>
          </a:xfrm>
          <a:prstGeom prst="rect">
            <a:avLst/>
          </a:prstGeom>
        </p:spPr>
      </p:pic>
    </p:spTree>
    <p:extLst>
      <p:ext uri="{BB962C8B-B14F-4D97-AF65-F5344CB8AC3E}">
        <p14:creationId xmlns:p14="http://schemas.microsoft.com/office/powerpoint/2010/main" val="136784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370F41-F4B1-40FB-B78E-2B4B9C19164E}"/>
              </a:ext>
            </a:extLst>
          </p:cNvPr>
          <p:cNvPicPr>
            <a:picLocks noChangeAspect="1"/>
          </p:cNvPicPr>
          <p:nvPr/>
        </p:nvPicPr>
        <p:blipFill>
          <a:blip r:embed="rId3"/>
          <a:stretch>
            <a:fillRect/>
          </a:stretch>
        </p:blipFill>
        <p:spPr>
          <a:xfrm>
            <a:off x="0" y="1986139"/>
            <a:ext cx="9144000" cy="2885722"/>
          </a:xfrm>
          <a:prstGeom prst="rect">
            <a:avLst/>
          </a:prstGeom>
        </p:spPr>
      </p:pic>
    </p:spTree>
    <p:extLst>
      <p:ext uri="{BB962C8B-B14F-4D97-AF65-F5344CB8AC3E}">
        <p14:creationId xmlns:p14="http://schemas.microsoft.com/office/powerpoint/2010/main" val="1186981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EBD63B-29B8-4D58-A7CE-4139244C66C2}"/>
              </a:ext>
            </a:extLst>
          </p:cNvPr>
          <p:cNvSpPr>
            <a:spLocks noGrp="1"/>
          </p:cNvSpPr>
          <p:nvPr>
            <p:ph idx="1"/>
          </p:nvPr>
        </p:nvSpPr>
        <p:spPr>
          <a:xfrm>
            <a:off x="628650" y="1189973"/>
            <a:ext cx="3802480" cy="5425401"/>
          </a:xfrm>
        </p:spPr>
        <p:txBody>
          <a:bodyPr>
            <a:normAutofit fontScale="92500" lnSpcReduction="10000"/>
          </a:bodyPr>
          <a:lstStyle/>
          <a:p>
            <a:r>
              <a:rPr lang="en-GB" dirty="0"/>
              <a:t>“</a:t>
            </a:r>
            <a:r>
              <a:rPr lang="en-GB" b="0" i="0" dirty="0">
                <a:solidFill>
                  <a:srgbClr val="292929"/>
                </a:solidFill>
                <a:effectLst/>
                <a:latin typeface="charter"/>
              </a:rPr>
              <a:t>We will be creating a RESTful API that is used to store users’ details, which will have </a:t>
            </a:r>
            <a:r>
              <a:rPr lang="en-GB" b="1" i="0" u="sng" dirty="0">
                <a:effectLst/>
                <a:latin typeface="charter"/>
                <a:hlinkClick r:id="rId3"/>
              </a:rPr>
              <a:t>CRUD</a:t>
            </a:r>
            <a:r>
              <a:rPr lang="en-GB" b="1" i="0" dirty="0">
                <a:solidFill>
                  <a:srgbClr val="292929"/>
                </a:solidFill>
                <a:effectLst/>
                <a:latin typeface="charter"/>
              </a:rPr>
              <a:t> (Create, Read, Update, Delete)</a:t>
            </a:r>
            <a:r>
              <a:rPr lang="en-GB" b="0" i="0" dirty="0">
                <a:solidFill>
                  <a:srgbClr val="292929"/>
                </a:solidFill>
                <a:effectLst/>
                <a:latin typeface="charter"/>
              </a:rPr>
              <a:t> functions, allowing us to create new user, get details of existing user, update details of existing user and delete existing user.</a:t>
            </a:r>
            <a:r>
              <a:rPr lang="en-GB" dirty="0"/>
              <a:t>”</a:t>
            </a:r>
          </a:p>
          <a:p>
            <a:r>
              <a:rPr lang="en-GB" dirty="0">
                <a:hlinkClick r:id="rId4"/>
              </a:rPr>
              <a:t>https://codeburst.io/this-is-how-easy-it-is-to-create-a-rest-api-8a25122ab1f3</a:t>
            </a:r>
            <a:r>
              <a:rPr lang="en-GB" dirty="0"/>
              <a:t> </a:t>
            </a:r>
          </a:p>
        </p:txBody>
      </p:sp>
      <p:pic>
        <p:nvPicPr>
          <p:cNvPr id="6" name="Picture 5">
            <a:extLst>
              <a:ext uri="{FF2B5EF4-FFF2-40B4-BE49-F238E27FC236}">
                <a16:creationId xmlns:a16="http://schemas.microsoft.com/office/drawing/2014/main" id="{BD4863F6-837B-4982-BDAA-2CBD00C854C6}"/>
              </a:ext>
            </a:extLst>
          </p:cNvPr>
          <p:cNvPicPr>
            <a:picLocks noChangeAspect="1"/>
          </p:cNvPicPr>
          <p:nvPr/>
        </p:nvPicPr>
        <p:blipFill>
          <a:blip r:embed="rId5"/>
          <a:stretch>
            <a:fillRect/>
          </a:stretch>
        </p:blipFill>
        <p:spPr>
          <a:xfrm>
            <a:off x="4431130" y="1189973"/>
            <a:ext cx="4324350" cy="5162550"/>
          </a:xfrm>
          <a:prstGeom prst="rect">
            <a:avLst/>
          </a:prstGeom>
        </p:spPr>
      </p:pic>
      <p:sp>
        <p:nvSpPr>
          <p:cNvPr id="2" name="TextBox 1">
            <a:extLst>
              <a:ext uri="{FF2B5EF4-FFF2-40B4-BE49-F238E27FC236}">
                <a16:creationId xmlns:a16="http://schemas.microsoft.com/office/drawing/2014/main" id="{70E173CD-3B86-4AFD-B1FC-1B3EEF3722CE}"/>
              </a:ext>
            </a:extLst>
          </p:cNvPr>
          <p:cNvSpPr txBox="1"/>
          <p:nvPr/>
        </p:nvSpPr>
        <p:spPr>
          <a:xfrm>
            <a:off x="4953000" y="505477"/>
            <a:ext cx="3802480" cy="523220"/>
          </a:xfrm>
          <a:prstGeom prst="rect">
            <a:avLst/>
          </a:prstGeom>
          <a:ln w="63500">
            <a:gradFill>
              <a:gsLst>
                <a:gs pos="0">
                  <a:srgbClr val="4D1451">
                    <a:lumMod val="90000"/>
                    <a:lumOff val="10000"/>
                  </a:srgbClr>
                </a:gs>
                <a:gs pos="98000">
                  <a:srgbClr val="DB342A"/>
                </a:gs>
              </a:gsLst>
              <a:lin ang="6000000" scaled="0"/>
            </a:gradFill>
            <a:miter lim="800000"/>
          </a:ln>
        </p:spPr>
        <p:txBody>
          <a:bodyPr wrap="square" rtlCol="0">
            <a:spAutoFit/>
          </a:bodyPr>
          <a:lstStyle/>
          <a:p>
            <a:pPr marL="0" indent="0" algn="l">
              <a:buNone/>
            </a:pPr>
            <a:r>
              <a:rPr lang="en-GB" sz="1400" b="0" i="0" dirty="0">
                <a:solidFill>
                  <a:srgbClr val="FF0000"/>
                </a:solidFill>
                <a:effectLst/>
                <a:latin typeface="Ink Free" panose="03080402000500000000" pitchFamily="66" charset="0"/>
              </a:rPr>
              <a:t>Let’s begin by importing the required module and setting up the </a:t>
            </a:r>
            <a:r>
              <a:rPr lang="en-GB" sz="1400" i="0" dirty="0">
                <a:solidFill>
                  <a:srgbClr val="FF0000"/>
                </a:solidFill>
                <a:effectLst/>
                <a:latin typeface="Ink Free" panose="03080402000500000000" pitchFamily="66" charset="0"/>
              </a:rPr>
              <a:t>Flask-RESTful</a:t>
            </a:r>
            <a:r>
              <a:rPr lang="en-GB" sz="1400" b="1" i="0" dirty="0">
                <a:solidFill>
                  <a:srgbClr val="FF0000"/>
                </a:solidFill>
                <a:effectLst/>
                <a:latin typeface="Ink Free" panose="03080402000500000000" pitchFamily="66" charset="0"/>
              </a:rPr>
              <a:t> </a:t>
            </a:r>
            <a:r>
              <a:rPr lang="en-GB" sz="1400" b="0" i="0" dirty="0">
                <a:solidFill>
                  <a:srgbClr val="FF0000"/>
                </a:solidFill>
                <a:effectLst/>
                <a:latin typeface="Ink Free" panose="03080402000500000000" pitchFamily="66" charset="0"/>
              </a:rPr>
              <a:t>application:</a:t>
            </a:r>
            <a:endParaRPr lang="en-GB" sz="1400" cap="none" spc="0" dirty="0">
              <a:ln>
                <a:noFill/>
              </a:ln>
              <a:solidFill>
                <a:srgbClr val="FF0000"/>
              </a:solidFill>
              <a:effectLst/>
              <a:latin typeface="Ink Free" panose="03080402000500000000" pitchFamily="66" charset="0"/>
              <a:cs typeface="Arial" panose="020B0604020202020204" pitchFamily="34" charset="0"/>
            </a:endParaRPr>
          </a:p>
        </p:txBody>
      </p:sp>
      <p:sp>
        <p:nvSpPr>
          <p:cNvPr id="5" name="TextBox 4">
            <a:extLst>
              <a:ext uri="{FF2B5EF4-FFF2-40B4-BE49-F238E27FC236}">
                <a16:creationId xmlns:a16="http://schemas.microsoft.com/office/drawing/2014/main" id="{947F2783-14E3-4041-8AAC-39ADFE6051DF}"/>
              </a:ext>
            </a:extLst>
          </p:cNvPr>
          <p:cNvSpPr txBox="1"/>
          <p:nvPr/>
        </p:nvSpPr>
        <p:spPr>
          <a:xfrm>
            <a:off x="6898606" y="1792856"/>
            <a:ext cx="1856874" cy="1636144"/>
          </a:xfrm>
          <a:prstGeom prst="rect">
            <a:avLst/>
          </a:prstGeom>
          <a:ln w="63500">
            <a:gradFill>
              <a:gsLst>
                <a:gs pos="0">
                  <a:srgbClr val="4D1451">
                    <a:lumMod val="90000"/>
                    <a:lumOff val="10000"/>
                  </a:srgbClr>
                </a:gs>
                <a:gs pos="98000">
                  <a:srgbClr val="DB342A"/>
                </a:gs>
              </a:gsLst>
              <a:lin ang="6000000" scaled="0"/>
            </a:gradFill>
            <a:miter lim="800000"/>
          </a:ln>
        </p:spPr>
        <p:txBody>
          <a:bodyPr wrap="square" rtlCol="0">
            <a:spAutoFit/>
          </a:bodyPr>
          <a:lstStyle/>
          <a:p>
            <a:pPr marL="0" indent="0" algn="l">
              <a:buNone/>
            </a:pPr>
            <a:r>
              <a:rPr lang="en-GB" sz="1400" b="0" i="0" dirty="0">
                <a:solidFill>
                  <a:srgbClr val="FF0000"/>
                </a:solidFill>
                <a:effectLst/>
                <a:latin typeface="Ink Free" panose="03080402000500000000" pitchFamily="66" charset="0"/>
              </a:rPr>
              <a:t>Next, we will create a lists of users using Python data structures which are lists and dictionaries to simulate a data store:</a:t>
            </a:r>
            <a:endParaRPr lang="en-GB" sz="1400" cap="none" spc="0" dirty="0">
              <a:ln>
                <a:noFill/>
              </a:ln>
              <a:solidFill>
                <a:srgbClr val="FF0000"/>
              </a:solidFill>
              <a:effectLst/>
              <a:latin typeface="Ink Free" panose="03080402000500000000" pitchFamily="66" charset="0"/>
              <a:cs typeface="Arial" panose="020B0604020202020204" pitchFamily="34" charset="0"/>
            </a:endParaRPr>
          </a:p>
        </p:txBody>
      </p:sp>
    </p:spTree>
    <p:extLst>
      <p:ext uri="{BB962C8B-B14F-4D97-AF65-F5344CB8AC3E}">
        <p14:creationId xmlns:p14="http://schemas.microsoft.com/office/powerpoint/2010/main" val="3550253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77F487-1DD0-4EF7-9EB6-4A7E384EED23}"/>
              </a:ext>
            </a:extLst>
          </p:cNvPr>
          <p:cNvPicPr>
            <a:picLocks noChangeAspect="1"/>
          </p:cNvPicPr>
          <p:nvPr/>
        </p:nvPicPr>
        <p:blipFill>
          <a:blip r:embed="rId3"/>
          <a:stretch>
            <a:fillRect/>
          </a:stretch>
        </p:blipFill>
        <p:spPr>
          <a:xfrm>
            <a:off x="388620" y="57150"/>
            <a:ext cx="7583805" cy="6743700"/>
          </a:xfrm>
          <a:prstGeom prst="rect">
            <a:avLst/>
          </a:prstGeom>
        </p:spPr>
      </p:pic>
      <p:sp>
        <p:nvSpPr>
          <p:cNvPr id="5" name="TextBox 4">
            <a:extLst>
              <a:ext uri="{FF2B5EF4-FFF2-40B4-BE49-F238E27FC236}">
                <a16:creationId xmlns:a16="http://schemas.microsoft.com/office/drawing/2014/main" id="{7A99C752-02AC-4176-9CCE-5D5FE7B6A3FB}"/>
              </a:ext>
            </a:extLst>
          </p:cNvPr>
          <p:cNvSpPr txBox="1"/>
          <p:nvPr/>
        </p:nvSpPr>
        <p:spPr>
          <a:xfrm>
            <a:off x="6001502" y="849078"/>
            <a:ext cx="1856874" cy="2031325"/>
          </a:xfrm>
          <a:prstGeom prst="rect">
            <a:avLst/>
          </a:prstGeom>
          <a:ln w="63500">
            <a:gradFill>
              <a:gsLst>
                <a:gs pos="0">
                  <a:srgbClr val="4D1451">
                    <a:lumMod val="90000"/>
                    <a:lumOff val="10000"/>
                  </a:srgbClr>
                </a:gs>
                <a:gs pos="98000">
                  <a:srgbClr val="DB342A"/>
                </a:gs>
              </a:gsLst>
              <a:lin ang="6000000" scaled="0"/>
            </a:gradFill>
            <a:miter lim="800000"/>
          </a:ln>
        </p:spPr>
        <p:txBody>
          <a:bodyPr wrap="square" rtlCol="0">
            <a:spAutoFit/>
          </a:bodyPr>
          <a:lstStyle/>
          <a:p>
            <a:pPr marL="0" indent="0" algn="l">
              <a:buNone/>
            </a:pPr>
            <a:r>
              <a:rPr lang="en-GB" sz="1400" b="0" i="0" dirty="0">
                <a:solidFill>
                  <a:srgbClr val="FF0000"/>
                </a:solidFill>
                <a:effectLst/>
                <a:latin typeface="Ink Free" panose="03080402000500000000" pitchFamily="66" charset="0"/>
              </a:rPr>
              <a:t>Now we will begin creating our API endpoints by defining a </a:t>
            </a:r>
            <a:r>
              <a:rPr lang="en-GB" sz="1400" b="0" i="1" dirty="0">
                <a:solidFill>
                  <a:srgbClr val="FF0000"/>
                </a:solidFill>
                <a:effectLst/>
                <a:latin typeface="Ink Free" panose="03080402000500000000" pitchFamily="66" charset="0"/>
              </a:rPr>
              <a:t>User</a:t>
            </a:r>
            <a:r>
              <a:rPr lang="en-GB" sz="1400" b="0" i="0" dirty="0">
                <a:solidFill>
                  <a:srgbClr val="FF0000"/>
                </a:solidFill>
                <a:effectLst/>
                <a:latin typeface="Ink Free" panose="03080402000500000000" pitchFamily="66" charset="0"/>
              </a:rPr>
              <a:t> resource class. Four functions which correspond to four HTTP request method will be defined and implemented:</a:t>
            </a:r>
            <a:endParaRPr lang="en-GB" sz="1400" cap="none" spc="0" dirty="0">
              <a:ln>
                <a:noFill/>
              </a:ln>
              <a:solidFill>
                <a:srgbClr val="FF0000"/>
              </a:solidFill>
              <a:effectLst/>
              <a:latin typeface="Ink Free" panose="03080402000500000000" pitchFamily="66" charset="0"/>
              <a:cs typeface="Arial" panose="020B0604020202020204" pitchFamily="34" charset="0"/>
            </a:endParaRPr>
          </a:p>
        </p:txBody>
      </p:sp>
    </p:spTree>
    <p:extLst>
      <p:ext uri="{BB962C8B-B14F-4D97-AF65-F5344CB8AC3E}">
        <p14:creationId xmlns:p14="http://schemas.microsoft.com/office/powerpoint/2010/main" val="3290536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5CE775D-6043-4A98-9F71-5426B9B4B9F4}"/>
              </a:ext>
            </a:extLst>
          </p:cNvPr>
          <p:cNvPicPr>
            <a:picLocks noChangeAspect="1"/>
          </p:cNvPicPr>
          <p:nvPr/>
        </p:nvPicPr>
        <p:blipFill>
          <a:blip r:embed="rId3"/>
          <a:stretch>
            <a:fillRect/>
          </a:stretch>
        </p:blipFill>
        <p:spPr>
          <a:xfrm>
            <a:off x="457200" y="205740"/>
            <a:ext cx="7854006" cy="6327796"/>
          </a:xfrm>
          <a:prstGeom prst="rect">
            <a:avLst/>
          </a:prstGeom>
        </p:spPr>
      </p:pic>
      <p:sp>
        <p:nvSpPr>
          <p:cNvPr id="5" name="TextBox 4">
            <a:extLst>
              <a:ext uri="{FF2B5EF4-FFF2-40B4-BE49-F238E27FC236}">
                <a16:creationId xmlns:a16="http://schemas.microsoft.com/office/drawing/2014/main" id="{21F9108E-3456-4461-B1AC-D1A1154D228E}"/>
              </a:ext>
            </a:extLst>
          </p:cNvPr>
          <p:cNvSpPr txBox="1"/>
          <p:nvPr/>
        </p:nvSpPr>
        <p:spPr>
          <a:xfrm>
            <a:off x="6142282" y="2413337"/>
            <a:ext cx="1856874" cy="2031325"/>
          </a:xfrm>
          <a:prstGeom prst="rect">
            <a:avLst/>
          </a:prstGeom>
          <a:ln w="63500">
            <a:gradFill>
              <a:gsLst>
                <a:gs pos="0">
                  <a:srgbClr val="4D1451">
                    <a:lumMod val="90000"/>
                    <a:lumOff val="10000"/>
                  </a:srgbClr>
                </a:gs>
                <a:gs pos="98000">
                  <a:srgbClr val="DB342A"/>
                </a:gs>
              </a:gsLst>
              <a:lin ang="6000000" scaled="0"/>
            </a:gradFill>
            <a:miter lim="800000"/>
          </a:ln>
        </p:spPr>
        <p:txBody>
          <a:bodyPr wrap="square" rtlCol="0">
            <a:spAutoFit/>
          </a:bodyPr>
          <a:lstStyle/>
          <a:p>
            <a:pPr marL="0" indent="0" algn="l">
              <a:buNone/>
            </a:pPr>
            <a:r>
              <a:rPr lang="en-GB" sz="1400" b="0" i="0" dirty="0">
                <a:solidFill>
                  <a:srgbClr val="FF0000"/>
                </a:solidFill>
                <a:effectLst/>
                <a:latin typeface="Ink Free" panose="03080402000500000000" pitchFamily="66" charset="0"/>
              </a:rPr>
              <a:t>Finally, we have done implementing all the methods in our </a:t>
            </a:r>
            <a:r>
              <a:rPr lang="en-GB" sz="1400" b="0" i="1" dirty="0">
                <a:solidFill>
                  <a:srgbClr val="FF0000"/>
                </a:solidFill>
                <a:effectLst/>
                <a:latin typeface="Ink Free" panose="03080402000500000000" pitchFamily="66" charset="0"/>
              </a:rPr>
              <a:t>User </a:t>
            </a:r>
            <a:r>
              <a:rPr lang="en-GB" sz="1400" b="0" i="0" dirty="0">
                <a:solidFill>
                  <a:srgbClr val="FF0000"/>
                </a:solidFill>
                <a:effectLst/>
                <a:latin typeface="Ink Free" panose="03080402000500000000" pitchFamily="66" charset="0"/>
              </a:rPr>
              <a:t>resource, we will add the resource to our API and specify its route,</a:t>
            </a:r>
            <a:r>
              <a:rPr lang="en-GB" sz="1400" b="0" i="1" dirty="0">
                <a:solidFill>
                  <a:srgbClr val="FF0000"/>
                </a:solidFill>
                <a:effectLst/>
                <a:latin typeface="Ink Free" panose="03080402000500000000" pitchFamily="66" charset="0"/>
              </a:rPr>
              <a:t> </a:t>
            </a:r>
            <a:r>
              <a:rPr lang="en-GB" sz="1400" b="0" i="0" dirty="0">
                <a:solidFill>
                  <a:srgbClr val="FF0000"/>
                </a:solidFill>
                <a:effectLst/>
                <a:latin typeface="Ink Free" panose="03080402000500000000" pitchFamily="66" charset="0"/>
              </a:rPr>
              <a:t>then run our Flask application:</a:t>
            </a:r>
            <a:endParaRPr lang="en-GB" sz="1400" cap="none" spc="0" dirty="0">
              <a:ln>
                <a:noFill/>
              </a:ln>
              <a:solidFill>
                <a:srgbClr val="FF0000"/>
              </a:solidFill>
              <a:effectLst/>
              <a:latin typeface="Ink Free" panose="03080402000500000000" pitchFamily="66" charset="0"/>
              <a:cs typeface="Arial" panose="020B0604020202020204" pitchFamily="34" charset="0"/>
            </a:endParaRPr>
          </a:p>
        </p:txBody>
      </p:sp>
    </p:spTree>
    <p:extLst>
      <p:ext uri="{BB962C8B-B14F-4D97-AF65-F5344CB8AC3E}">
        <p14:creationId xmlns:p14="http://schemas.microsoft.com/office/powerpoint/2010/main" val="783630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B09AE5-D64E-4A06-95EB-2590FEDA5F11}"/>
              </a:ext>
            </a:extLst>
          </p:cNvPr>
          <p:cNvPicPr>
            <a:picLocks noChangeAspect="1"/>
          </p:cNvPicPr>
          <p:nvPr/>
        </p:nvPicPr>
        <p:blipFill>
          <a:blip r:embed="rId3"/>
          <a:stretch>
            <a:fillRect/>
          </a:stretch>
        </p:blipFill>
        <p:spPr>
          <a:xfrm>
            <a:off x="0" y="1426002"/>
            <a:ext cx="9144000" cy="4953342"/>
          </a:xfrm>
          <a:prstGeom prst="rect">
            <a:avLst/>
          </a:prstGeom>
        </p:spPr>
      </p:pic>
    </p:spTree>
    <p:extLst>
      <p:ext uri="{BB962C8B-B14F-4D97-AF65-F5344CB8AC3E}">
        <p14:creationId xmlns:p14="http://schemas.microsoft.com/office/powerpoint/2010/main" val="805368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raphical user interface, text, application&#10;&#10;Description automatically generated">
            <a:extLst>
              <a:ext uri="{FF2B5EF4-FFF2-40B4-BE49-F238E27FC236}">
                <a16:creationId xmlns:a16="http://schemas.microsoft.com/office/drawing/2014/main" id="{BD27F57F-4B98-4E86-ABAA-820E4669A55E}"/>
              </a:ext>
            </a:extLst>
          </p:cNvPr>
          <p:cNvPicPr>
            <a:picLocks noGrp="1" noChangeAspect="1"/>
          </p:cNvPicPr>
          <p:nvPr>
            <p:ph idx="1"/>
          </p:nvPr>
        </p:nvPicPr>
        <p:blipFill>
          <a:blip r:embed="rId3"/>
          <a:stretch>
            <a:fillRect/>
          </a:stretch>
        </p:blipFill>
        <p:spPr>
          <a:xfrm>
            <a:off x="4932948" y="2383132"/>
            <a:ext cx="3938224" cy="1428066"/>
          </a:xfrm>
        </p:spPr>
      </p:pic>
      <p:pic>
        <p:nvPicPr>
          <p:cNvPr id="8" name="Picture 7" descr="Text&#10;&#10;Description automatically generated">
            <a:extLst>
              <a:ext uri="{FF2B5EF4-FFF2-40B4-BE49-F238E27FC236}">
                <a16:creationId xmlns:a16="http://schemas.microsoft.com/office/drawing/2014/main" id="{13EF5278-F1E2-4C0B-9AAF-8038865DDF07}"/>
              </a:ext>
            </a:extLst>
          </p:cNvPr>
          <p:cNvPicPr>
            <a:picLocks noChangeAspect="1"/>
          </p:cNvPicPr>
          <p:nvPr/>
        </p:nvPicPr>
        <p:blipFill>
          <a:blip r:embed="rId4"/>
          <a:stretch>
            <a:fillRect/>
          </a:stretch>
        </p:blipFill>
        <p:spPr>
          <a:xfrm>
            <a:off x="272828" y="1214367"/>
            <a:ext cx="4299171" cy="2619620"/>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C2549AFF-0E95-409A-A412-E5E19576069C}"/>
              </a:ext>
            </a:extLst>
          </p:cNvPr>
          <p:cNvPicPr>
            <a:picLocks noChangeAspect="1"/>
          </p:cNvPicPr>
          <p:nvPr/>
        </p:nvPicPr>
        <p:blipFill>
          <a:blip r:embed="rId5"/>
          <a:stretch>
            <a:fillRect/>
          </a:stretch>
        </p:blipFill>
        <p:spPr>
          <a:xfrm>
            <a:off x="4761498" y="5465815"/>
            <a:ext cx="4221525" cy="1004149"/>
          </a:xfrm>
          <a:prstGeom prst="rect">
            <a:avLst/>
          </a:prstGeom>
        </p:spPr>
      </p:pic>
      <p:pic>
        <p:nvPicPr>
          <p:cNvPr id="12" name="Picture 11" descr="Graphical user interface, text, application&#10;&#10;Description automatically generated">
            <a:extLst>
              <a:ext uri="{FF2B5EF4-FFF2-40B4-BE49-F238E27FC236}">
                <a16:creationId xmlns:a16="http://schemas.microsoft.com/office/drawing/2014/main" id="{1855DA1A-C1E7-498D-85EB-F9E5635A2AE0}"/>
              </a:ext>
            </a:extLst>
          </p:cNvPr>
          <p:cNvPicPr>
            <a:picLocks noChangeAspect="1"/>
          </p:cNvPicPr>
          <p:nvPr/>
        </p:nvPicPr>
        <p:blipFill>
          <a:blip r:embed="rId6"/>
          <a:stretch>
            <a:fillRect/>
          </a:stretch>
        </p:blipFill>
        <p:spPr>
          <a:xfrm>
            <a:off x="272829" y="4599413"/>
            <a:ext cx="4311714" cy="1870551"/>
          </a:xfrm>
          <a:prstGeom prst="rect">
            <a:avLst/>
          </a:prstGeom>
        </p:spPr>
      </p:pic>
    </p:spTree>
    <p:extLst>
      <p:ext uri="{BB962C8B-B14F-4D97-AF65-F5344CB8AC3E}">
        <p14:creationId xmlns:p14="http://schemas.microsoft.com/office/powerpoint/2010/main" val="3832180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26D43B-2B86-463B-9897-3D3FC7B418F0}"/>
              </a:ext>
            </a:extLst>
          </p:cNvPr>
          <p:cNvPicPr>
            <a:picLocks noChangeAspect="1"/>
          </p:cNvPicPr>
          <p:nvPr/>
        </p:nvPicPr>
        <p:blipFill>
          <a:blip r:embed="rId3"/>
          <a:stretch>
            <a:fillRect/>
          </a:stretch>
        </p:blipFill>
        <p:spPr>
          <a:xfrm>
            <a:off x="0" y="2935800"/>
            <a:ext cx="9144000" cy="986400"/>
          </a:xfrm>
          <a:prstGeom prst="rect">
            <a:avLst/>
          </a:prstGeom>
        </p:spPr>
      </p:pic>
      <p:sp>
        <p:nvSpPr>
          <p:cNvPr id="5" name="TextBox 4">
            <a:extLst>
              <a:ext uri="{FF2B5EF4-FFF2-40B4-BE49-F238E27FC236}">
                <a16:creationId xmlns:a16="http://schemas.microsoft.com/office/drawing/2014/main" id="{88D67924-300C-41D8-ADF9-30BD087147B1}"/>
              </a:ext>
            </a:extLst>
          </p:cNvPr>
          <p:cNvSpPr txBox="1"/>
          <p:nvPr/>
        </p:nvSpPr>
        <p:spPr>
          <a:xfrm>
            <a:off x="4310743" y="4240502"/>
            <a:ext cx="3371172" cy="954107"/>
          </a:xfrm>
          <a:prstGeom prst="rect">
            <a:avLst/>
          </a:prstGeom>
          <a:ln w="63500">
            <a:gradFill>
              <a:gsLst>
                <a:gs pos="0">
                  <a:srgbClr val="4D1451">
                    <a:lumMod val="90000"/>
                    <a:lumOff val="10000"/>
                  </a:srgbClr>
                </a:gs>
                <a:gs pos="98000">
                  <a:srgbClr val="DB342A"/>
                </a:gs>
              </a:gsLst>
              <a:lin ang="6000000" scaled="0"/>
            </a:gradFill>
            <a:miter lim="800000"/>
          </a:ln>
        </p:spPr>
        <p:txBody>
          <a:bodyPr wrap="square" rtlCol="0">
            <a:spAutoFit/>
          </a:bodyPr>
          <a:lstStyle/>
          <a:p>
            <a:pPr marL="0" indent="0" algn="l">
              <a:buNone/>
            </a:pPr>
            <a:r>
              <a:rPr lang="en-GB" sz="1400" b="0" i="0" dirty="0">
                <a:solidFill>
                  <a:srgbClr val="FF0000"/>
                </a:solidFill>
                <a:effectLst/>
                <a:latin typeface="Ink Free" panose="03080402000500000000" pitchFamily="66" charset="0"/>
              </a:rPr>
              <a:t>This paper illustrates how distributed systems evolved from the traditional client-server model to the recently proposed microservices architecture. </a:t>
            </a:r>
            <a:endParaRPr lang="en-GB" sz="1400" cap="none" spc="0" dirty="0">
              <a:ln>
                <a:noFill/>
              </a:ln>
              <a:solidFill>
                <a:srgbClr val="FF0000"/>
              </a:solidFill>
              <a:effectLst/>
              <a:latin typeface="Ink Free" panose="03080402000500000000" pitchFamily="66" charset="0"/>
              <a:cs typeface="Arial" panose="020B0604020202020204" pitchFamily="34" charset="0"/>
            </a:endParaRPr>
          </a:p>
        </p:txBody>
      </p:sp>
    </p:spTree>
    <p:extLst>
      <p:ext uri="{BB962C8B-B14F-4D97-AF65-F5344CB8AC3E}">
        <p14:creationId xmlns:p14="http://schemas.microsoft.com/office/powerpoint/2010/main" val="10890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80A907-8D3C-4A00-A144-E80DCB2EC0A8}"/>
              </a:ext>
            </a:extLst>
          </p:cNvPr>
          <p:cNvPicPr>
            <a:picLocks noChangeAspect="1"/>
          </p:cNvPicPr>
          <p:nvPr/>
        </p:nvPicPr>
        <p:blipFill>
          <a:blip r:embed="rId3"/>
          <a:stretch>
            <a:fillRect/>
          </a:stretch>
        </p:blipFill>
        <p:spPr>
          <a:xfrm>
            <a:off x="434341" y="0"/>
            <a:ext cx="8149590" cy="6858000"/>
          </a:xfrm>
          <a:prstGeom prst="rect">
            <a:avLst/>
          </a:prstGeom>
        </p:spPr>
      </p:pic>
    </p:spTree>
    <p:extLst>
      <p:ext uri="{BB962C8B-B14F-4D97-AF65-F5344CB8AC3E}">
        <p14:creationId xmlns:p14="http://schemas.microsoft.com/office/powerpoint/2010/main" val="2437907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8B3245-CF96-4365-BBF7-92E790AC1ACD}"/>
              </a:ext>
            </a:extLst>
          </p:cNvPr>
          <p:cNvSpPr>
            <a:spLocks noGrp="1"/>
          </p:cNvSpPr>
          <p:nvPr>
            <p:ph idx="1"/>
          </p:nvPr>
        </p:nvSpPr>
        <p:spPr/>
        <p:txBody>
          <a:bodyPr/>
          <a:lstStyle/>
          <a:p>
            <a:r>
              <a:rPr lang="en-GB" dirty="0"/>
              <a:t>The Evolution of Distributed Systems Towards Microservices Architecture (2016)</a:t>
            </a:r>
          </a:p>
          <a:p>
            <a:r>
              <a:rPr lang="en-GB" dirty="0"/>
              <a:t>Distributed systems taxonomy evolution</a:t>
            </a:r>
          </a:p>
        </p:txBody>
      </p:sp>
      <p:pic>
        <p:nvPicPr>
          <p:cNvPr id="4" name="Picture 3">
            <a:extLst>
              <a:ext uri="{FF2B5EF4-FFF2-40B4-BE49-F238E27FC236}">
                <a16:creationId xmlns:a16="http://schemas.microsoft.com/office/drawing/2014/main" id="{7DD73441-F803-447B-AAFB-58C2C93BA8D9}"/>
              </a:ext>
            </a:extLst>
          </p:cNvPr>
          <p:cNvPicPr>
            <a:picLocks noChangeAspect="1"/>
          </p:cNvPicPr>
          <p:nvPr/>
        </p:nvPicPr>
        <p:blipFill>
          <a:blip r:embed="rId3"/>
          <a:stretch>
            <a:fillRect/>
          </a:stretch>
        </p:blipFill>
        <p:spPr>
          <a:xfrm>
            <a:off x="1364932" y="2963862"/>
            <a:ext cx="6048375" cy="3419475"/>
          </a:xfrm>
          <a:prstGeom prst="rect">
            <a:avLst/>
          </a:prstGeom>
        </p:spPr>
      </p:pic>
    </p:spTree>
    <p:extLst>
      <p:ext uri="{BB962C8B-B14F-4D97-AF65-F5344CB8AC3E}">
        <p14:creationId xmlns:p14="http://schemas.microsoft.com/office/powerpoint/2010/main" val="120963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1CBD02-DBF0-4399-9BDB-FE6C86940B7D}"/>
              </a:ext>
            </a:extLst>
          </p:cNvPr>
          <p:cNvSpPr>
            <a:spLocks noGrp="1"/>
          </p:cNvSpPr>
          <p:nvPr>
            <p:ph idx="1"/>
          </p:nvPr>
        </p:nvSpPr>
        <p:spPr/>
        <p:txBody>
          <a:bodyPr/>
          <a:lstStyle/>
          <a:p>
            <a:r>
              <a:rPr lang="en-GB" b="1" dirty="0"/>
              <a:t>Next gen?</a:t>
            </a:r>
          </a:p>
          <a:p>
            <a:r>
              <a:rPr lang="en-GB" dirty="0"/>
              <a:t>Unikernel</a:t>
            </a:r>
          </a:p>
          <a:p>
            <a:r>
              <a:rPr lang="en-GB" dirty="0"/>
              <a:t>Hands-off containers</a:t>
            </a:r>
          </a:p>
          <a:p>
            <a:r>
              <a:rPr lang="en-GB" dirty="0"/>
              <a:t>Broader serverless support</a:t>
            </a:r>
          </a:p>
        </p:txBody>
      </p:sp>
      <p:pic>
        <p:nvPicPr>
          <p:cNvPr id="4" name="Picture 3">
            <a:extLst>
              <a:ext uri="{FF2B5EF4-FFF2-40B4-BE49-F238E27FC236}">
                <a16:creationId xmlns:a16="http://schemas.microsoft.com/office/drawing/2014/main" id="{72F9C0EE-9FD0-48DC-A336-852FB192F9E7}"/>
              </a:ext>
            </a:extLst>
          </p:cNvPr>
          <p:cNvPicPr>
            <a:picLocks noChangeAspect="1"/>
          </p:cNvPicPr>
          <p:nvPr/>
        </p:nvPicPr>
        <p:blipFill>
          <a:blip r:embed="rId3"/>
          <a:stretch>
            <a:fillRect/>
          </a:stretch>
        </p:blipFill>
        <p:spPr>
          <a:xfrm>
            <a:off x="3956797" y="3429000"/>
            <a:ext cx="5005668" cy="2680550"/>
          </a:xfrm>
          <a:prstGeom prst="rect">
            <a:avLst/>
          </a:prstGeom>
        </p:spPr>
      </p:pic>
      <p:sp>
        <p:nvSpPr>
          <p:cNvPr id="5" name="TextBox 4">
            <a:extLst>
              <a:ext uri="{FF2B5EF4-FFF2-40B4-BE49-F238E27FC236}">
                <a16:creationId xmlns:a16="http://schemas.microsoft.com/office/drawing/2014/main" id="{B9E28273-6A60-40E1-8C1E-E340E8A03E34}"/>
              </a:ext>
            </a:extLst>
          </p:cNvPr>
          <p:cNvSpPr txBox="1"/>
          <p:nvPr/>
        </p:nvSpPr>
        <p:spPr>
          <a:xfrm>
            <a:off x="1075765" y="6144018"/>
            <a:ext cx="7886700" cy="523220"/>
          </a:xfrm>
          <a:prstGeom prst="rect">
            <a:avLst/>
          </a:prstGeom>
          <a:ln w="63500">
            <a:gradFill>
              <a:gsLst>
                <a:gs pos="0">
                  <a:srgbClr val="4D1451">
                    <a:lumMod val="90000"/>
                    <a:lumOff val="10000"/>
                  </a:srgbClr>
                </a:gs>
                <a:gs pos="98000">
                  <a:srgbClr val="DB342A"/>
                </a:gs>
              </a:gsLst>
              <a:lin ang="6000000" scaled="0"/>
            </a:gradFill>
            <a:miter lim="800000"/>
          </a:ln>
        </p:spPr>
        <p:txBody>
          <a:bodyPr wrap="square" rtlCol="0">
            <a:spAutoFit/>
          </a:bodyPr>
          <a:lstStyle/>
          <a:p>
            <a:pPr marL="0" indent="0" algn="l">
              <a:buNone/>
            </a:pPr>
            <a:r>
              <a:rPr lang="en-GB" sz="1400" cap="none" spc="0" dirty="0">
                <a:ln>
                  <a:noFill/>
                </a:ln>
                <a:solidFill>
                  <a:schemeClr val="tx1"/>
                </a:solidFill>
                <a:effectLst/>
                <a:latin typeface="Arial" panose="020B0604020202020204" pitchFamily="34" charset="0"/>
                <a:cs typeface="Arial" panose="020B0604020202020204" pitchFamily="34" charset="0"/>
              </a:rPr>
              <a:t>https://www.forbes.com/sites/janakirammsv/2016/01/26/unikernels-the-shiny-new-object-in-the-cloud/?sh=6100939932b8</a:t>
            </a:r>
          </a:p>
        </p:txBody>
      </p:sp>
    </p:spTree>
    <p:extLst>
      <p:ext uri="{BB962C8B-B14F-4D97-AF65-F5344CB8AC3E}">
        <p14:creationId xmlns:p14="http://schemas.microsoft.com/office/powerpoint/2010/main" val="350309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538B2-32F4-A251-6E89-33C57F3B2B25}"/>
              </a:ext>
            </a:extLst>
          </p:cNvPr>
          <p:cNvSpPr>
            <a:spLocks noGrp="1"/>
          </p:cNvSpPr>
          <p:nvPr>
            <p:ph type="title"/>
          </p:nvPr>
        </p:nvSpPr>
        <p:spPr/>
        <p:txBody>
          <a:bodyPr/>
          <a:lstStyle/>
          <a:p>
            <a:r>
              <a:rPr lang="en-US" dirty="0"/>
              <a:t>Unit 10</a:t>
            </a:r>
            <a:endParaRPr lang="en-GB" dirty="0"/>
          </a:p>
        </p:txBody>
      </p:sp>
    </p:spTree>
    <p:extLst>
      <p:ext uri="{BB962C8B-B14F-4D97-AF65-F5344CB8AC3E}">
        <p14:creationId xmlns:p14="http://schemas.microsoft.com/office/powerpoint/2010/main" val="1674616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89C4E-FCB8-B2D7-F998-FD3236DA5C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291CB7F-E9FC-75BB-EF10-7FA3ECA07E0A}"/>
              </a:ext>
            </a:extLst>
          </p:cNvPr>
          <p:cNvSpPr>
            <a:spLocks noGrp="1"/>
          </p:cNvSpPr>
          <p:nvPr>
            <p:ph type="title"/>
          </p:nvPr>
        </p:nvSpPr>
        <p:spPr/>
        <p:txBody>
          <a:bodyPr/>
          <a:lstStyle/>
          <a:p>
            <a:r>
              <a:rPr lang="en-US" dirty="0"/>
              <a:t>Unit 10</a:t>
            </a:r>
            <a:endParaRPr lang="en-GB" dirty="0"/>
          </a:p>
        </p:txBody>
      </p:sp>
      <p:pic>
        <p:nvPicPr>
          <p:cNvPr id="6" name="Picture 5">
            <a:extLst>
              <a:ext uri="{FF2B5EF4-FFF2-40B4-BE49-F238E27FC236}">
                <a16:creationId xmlns:a16="http://schemas.microsoft.com/office/drawing/2014/main" id="{3895DC2B-C23A-C924-302D-C200B946AF66}"/>
              </a:ext>
            </a:extLst>
          </p:cNvPr>
          <p:cNvPicPr>
            <a:picLocks noChangeAspect="1"/>
          </p:cNvPicPr>
          <p:nvPr/>
        </p:nvPicPr>
        <p:blipFill>
          <a:blip r:embed="rId2"/>
          <a:stretch>
            <a:fillRect/>
          </a:stretch>
        </p:blipFill>
        <p:spPr>
          <a:xfrm>
            <a:off x="0" y="2126555"/>
            <a:ext cx="9144000" cy="4731445"/>
          </a:xfrm>
          <a:prstGeom prst="rect">
            <a:avLst/>
          </a:prstGeom>
        </p:spPr>
      </p:pic>
    </p:spTree>
    <p:extLst>
      <p:ext uri="{BB962C8B-B14F-4D97-AF65-F5344CB8AC3E}">
        <p14:creationId xmlns:p14="http://schemas.microsoft.com/office/powerpoint/2010/main" val="7188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40B60F-C153-415B-A490-CBF911FB630C}"/>
              </a:ext>
            </a:extLst>
          </p:cNvPr>
          <p:cNvPicPr>
            <a:picLocks noChangeAspect="1"/>
          </p:cNvPicPr>
          <p:nvPr/>
        </p:nvPicPr>
        <p:blipFill>
          <a:blip r:embed="rId2"/>
          <a:stretch>
            <a:fillRect/>
          </a:stretch>
        </p:blipFill>
        <p:spPr>
          <a:xfrm>
            <a:off x="0" y="1389353"/>
            <a:ext cx="9144000" cy="5026639"/>
          </a:xfrm>
          <a:prstGeom prst="rect">
            <a:avLst/>
          </a:prstGeom>
        </p:spPr>
      </p:pic>
    </p:spTree>
    <p:extLst>
      <p:ext uri="{BB962C8B-B14F-4D97-AF65-F5344CB8AC3E}">
        <p14:creationId xmlns:p14="http://schemas.microsoft.com/office/powerpoint/2010/main" val="1031513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C48D35-3225-4814-8DF5-3CB31EACF6EA}"/>
              </a:ext>
            </a:extLst>
          </p:cNvPr>
          <p:cNvPicPr>
            <a:picLocks noChangeAspect="1"/>
          </p:cNvPicPr>
          <p:nvPr/>
        </p:nvPicPr>
        <p:blipFill>
          <a:blip r:embed="rId3"/>
          <a:stretch>
            <a:fillRect/>
          </a:stretch>
        </p:blipFill>
        <p:spPr>
          <a:xfrm>
            <a:off x="461962" y="154007"/>
            <a:ext cx="8099108" cy="6549985"/>
          </a:xfrm>
          <a:prstGeom prst="rect">
            <a:avLst/>
          </a:prstGeom>
        </p:spPr>
      </p:pic>
    </p:spTree>
    <p:extLst>
      <p:ext uri="{BB962C8B-B14F-4D97-AF65-F5344CB8AC3E}">
        <p14:creationId xmlns:p14="http://schemas.microsoft.com/office/powerpoint/2010/main" val="1592640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863D22-C882-402B-BF54-DF7561F191F1}"/>
              </a:ext>
            </a:extLst>
          </p:cNvPr>
          <p:cNvPicPr>
            <a:picLocks noChangeAspect="1"/>
          </p:cNvPicPr>
          <p:nvPr/>
        </p:nvPicPr>
        <p:blipFill>
          <a:blip r:embed="rId3"/>
          <a:stretch>
            <a:fillRect/>
          </a:stretch>
        </p:blipFill>
        <p:spPr>
          <a:xfrm>
            <a:off x="0" y="798138"/>
            <a:ext cx="9144000" cy="5261724"/>
          </a:xfrm>
          <a:prstGeom prst="rect">
            <a:avLst/>
          </a:prstGeom>
        </p:spPr>
      </p:pic>
    </p:spTree>
    <p:extLst>
      <p:ext uri="{BB962C8B-B14F-4D97-AF65-F5344CB8AC3E}">
        <p14:creationId xmlns:p14="http://schemas.microsoft.com/office/powerpoint/2010/main" val="3163229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698066-8550-47DB-9779-46987725DF93}"/>
              </a:ext>
            </a:extLst>
          </p:cNvPr>
          <p:cNvSpPr>
            <a:spLocks noGrp="1"/>
          </p:cNvSpPr>
          <p:nvPr>
            <p:ph idx="1"/>
          </p:nvPr>
        </p:nvSpPr>
        <p:spPr>
          <a:xfrm>
            <a:off x="628650" y="1414462"/>
            <a:ext cx="7886700" cy="5200912"/>
          </a:xfrm>
        </p:spPr>
        <p:txBody>
          <a:bodyPr/>
          <a:lstStyle/>
          <a:p>
            <a:r>
              <a:rPr lang="en-GB" b="1" i="0" dirty="0">
                <a:effectLst/>
                <a:latin typeface="Arial" panose="020B0604020202020204" pitchFamily="34" charset="0"/>
              </a:rPr>
              <a:t>Common Object Request Broker Architecture (CORBA)</a:t>
            </a:r>
            <a:endParaRPr lang="en-GB" b="1" dirty="0"/>
          </a:p>
        </p:txBody>
      </p:sp>
      <p:pic>
        <p:nvPicPr>
          <p:cNvPr id="4" name="Picture 3">
            <a:extLst>
              <a:ext uri="{FF2B5EF4-FFF2-40B4-BE49-F238E27FC236}">
                <a16:creationId xmlns:a16="http://schemas.microsoft.com/office/drawing/2014/main" id="{9954BB90-326F-4FD2-8D86-8BBE121CBE2C}"/>
              </a:ext>
            </a:extLst>
          </p:cNvPr>
          <p:cNvPicPr>
            <a:picLocks noChangeAspect="1"/>
          </p:cNvPicPr>
          <p:nvPr/>
        </p:nvPicPr>
        <p:blipFill>
          <a:blip r:embed="rId3"/>
          <a:stretch>
            <a:fillRect/>
          </a:stretch>
        </p:blipFill>
        <p:spPr>
          <a:xfrm>
            <a:off x="1508574" y="2869660"/>
            <a:ext cx="6606726" cy="3716877"/>
          </a:xfrm>
          <a:prstGeom prst="rect">
            <a:avLst/>
          </a:prstGeom>
        </p:spPr>
      </p:pic>
      <p:pic>
        <p:nvPicPr>
          <p:cNvPr id="6" name="Picture 5">
            <a:extLst>
              <a:ext uri="{FF2B5EF4-FFF2-40B4-BE49-F238E27FC236}">
                <a16:creationId xmlns:a16="http://schemas.microsoft.com/office/drawing/2014/main" id="{1B779439-8B0D-4D79-98E6-F79B1ABCA2C7}"/>
              </a:ext>
            </a:extLst>
          </p:cNvPr>
          <p:cNvPicPr>
            <a:picLocks noChangeAspect="1"/>
          </p:cNvPicPr>
          <p:nvPr/>
        </p:nvPicPr>
        <p:blipFill>
          <a:blip r:embed="rId4"/>
          <a:stretch>
            <a:fillRect/>
          </a:stretch>
        </p:blipFill>
        <p:spPr>
          <a:xfrm>
            <a:off x="3164682" y="114038"/>
            <a:ext cx="5822156" cy="1300424"/>
          </a:xfrm>
          <a:prstGeom prst="rect">
            <a:avLst/>
          </a:prstGeom>
        </p:spPr>
      </p:pic>
    </p:spTree>
    <p:extLst>
      <p:ext uri="{BB962C8B-B14F-4D97-AF65-F5344CB8AC3E}">
        <p14:creationId xmlns:p14="http://schemas.microsoft.com/office/powerpoint/2010/main" val="1068101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EB9F0-1BF7-E206-203E-E6D5621E8D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C931E5-EB54-5050-062C-75B6BC7D7027}"/>
              </a:ext>
            </a:extLst>
          </p:cNvPr>
          <p:cNvSpPr>
            <a:spLocks noGrp="1"/>
          </p:cNvSpPr>
          <p:nvPr>
            <p:ph type="title"/>
          </p:nvPr>
        </p:nvSpPr>
        <p:spPr/>
        <p:txBody>
          <a:bodyPr/>
          <a:lstStyle/>
          <a:p>
            <a:r>
              <a:rPr lang="en-US" dirty="0"/>
              <a:t>SOA</a:t>
            </a:r>
            <a:endParaRPr lang="en-GB" dirty="0"/>
          </a:p>
        </p:txBody>
      </p:sp>
      <p:pic>
        <p:nvPicPr>
          <p:cNvPr id="2" name="Picture 1">
            <a:extLst>
              <a:ext uri="{FF2B5EF4-FFF2-40B4-BE49-F238E27FC236}">
                <a16:creationId xmlns:a16="http://schemas.microsoft.com/office/drawing/2014/main" id="{D79DD6AA-6C6D-0F95-E2AE-DB1B8776390A}"/>
              </a:ext>
            </a:extLst>
          </p:cNvPr>
          <p:cNvPicPr>
            <a:picLocks noChangeAspect="1"/>
          </p:cNvPicPr>
          <p:nvPr/>
        </p:nvPicPr>
        <p:blipFill>
          <a:blip r:embed="rId2"/>
          <a:stretch>
            <a:fillRect/>
          </a:stretch>
        </p:blipFill>
        <p:spPr>
          <a:xfrm>
            <a:off x="885825" y="1952363"/>
            <a:ext cx="7115175" cy="4266379"/>
          </a:xfrm>
          <a:prstGeom prst="rect">
            <a:avLst/>
          </a:prstGeom>
        </p:spPr>
      </p:pic>
    </p:spTree>
    <p:extLst>
      <p:ext uri="{BB962C8B-B14F-4D97-AF65-F5344CB8AC3E}">
        <p14:creationId xmlns:p14="http://schemas.microsoft.com/office/powerpoint/2010/main" val="2119061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C1A263-2139-4A1D-9542-A0A10D8B97FE}"/>
              </a:ext>
            </a:extLst>
          </p:cNvPr>
          <p:cNvPicPr>
            <a:picLocks noChangeAspect="1"/>
          </p:cNvPicPr>
          <p:nvPr/>
        </p:nvPicPr>
        <p:blipFill>
          <a:blip r:embed="rId3"/>
          <a:stretch>
            <a:fillRect/>
          </a:stretch>
        </p:blipFill>
        <p:spPr>
          <a:xfrm>
            <a:off x="0" y="727363"/>
            <a:ext cx="9144000" cy="5403273"/>
          </a:xfrm>
          <a:prstGeom prst="rect">
            <a:avLst/>
          </a:prstGeom>
        </p:spPr>
      </p:pic>
    </p:spTree>
    <p:extLst>
      <p:ext uri="{BB962C8B-B14F-4D97-AF65-F5344CB8AC3E}">
        <p14:creationId xmlns:p14="http://schemas.microsoft.com/office/powerpoint/2010/main" val="1775606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B15490-19DC-4328-92FD-EE7EF0627F68}"/>
              </a:ext>
            </a:extLst>
          </p:cNvPr>
          <p:cNvSpPr>
            <a:spLocks noGrp="1"/>
          </p:cNvSpPr>
          <p:nvPr>
            <p:ph idx="1"/>
          </p:nvPr>
        </p:nvSpPr>
        <p:spPr>
          <a:xfrm>
            <a:off x="628650" y="1189973"/>
            <a:ext cx="3394710" cy="5425401"/>
          </a:xfrm>
        </p:spPr>
        <p:txBody>
          <a:bodyPr/>
          <a:lstStyle/>
          <a:p>
            <a:r>
              <a:rPr lang="en-GB" b="1" dirty="0"/>
              <a:t>Threats with Virtualisation</a:t>
            </a:r>
          </a:p>
          <a:p>
            <a:r>
              <a:rPr lang="en-GB" dirty="0"/>
              <a:t>Virtualisation</a:t>
            </a:r>
          </a:p>
          <a:p>
            <a:r>
              <a:rPr lang="en-GB" dirty="0"/>
              <a:t>VM Escape</a:t>
            </a:r>
          </a:p>
          <a:p>
            <a:r>
              <a:rPr lang="en-GB" dirty="0" err="1"/>
              <a:t>Hyperjacking</a:t>
            </a:r>
            <a:endParaRPr lang="en-GB" dirty="0"/>
          </a:p>
          <a:p>
            <a:r>
              <a:rPr lang="en-GB" dirty="0"/>
              <a:t>VM Sprawl</a:t>
            </a:r>
          </a:p>
          <a:p>
            <a:r>
              <a:rPr lang="en-GB" dirty="0"/>
              <a:t>Hypervisor vulnerabilities</a:t>
            </a:r>
          </a:p>
          <a:p>
            <a:r>
              <a:rPr lang="en-GB" dirty="0"/>
              <a:t>Cross VM Side Channel Attack</a:t>
            </a:r>
          </a:p>
          <a:p>
            <a:endParaRPr lang="en-GB" dirty="0"/>
          </a:p>
        </p:txBody>
      </p:sp>
      <p:pic>
        <p:nvPicPr>
          <p:cNvPr id="5" name="Picture 4">
            <a:extLst>
              <a:ext uri="{FF2B5EF4-FFF2-40B4-BE49-F238E27FC236}">
                <a16:creationId xmlns:a16="http://schemas.microsoft.com/office/drawing/2014/main" id="{E2394919-5900-4E5C-A6C4-7DE20EE921D1}"/>
              </a:ext>
            </a:extLst>
          </p:cNvPr>
          <p:cNvPicPr>
            <a:picLocks noChangeAspect="1"/>
          </p:cNvPicPr>
          <p:nvPr/>
        </p:nvPicPr>
        <p:blipFill>
          <a:blip r:embed="rId3"/>
          <a:stretch>
            <a:fillRect/>
          </a:stretch>
        </p:blipFill>
        <p:spPr>
          <a:xfrm>
            <a:off x="4023360" y="3945517"/>
            <a:ext cx="4799875" cy="2669857"/>
          </a:xfrm>
          <a:prstGeom prst="rect">
            <a:avLst/>
          </a:prstGeom>
        </p:spPr>
      </p:pic>
      <p:pic>
        <p:nvPicPr>
          <p:cNvPr id="7" name="Picture 6">
            <a:extLst>
              <a:ext uri="{FF2B5EF4-FFF2-40B4-BE49-F238E27FC236}">
                <a16:creationId xmlns:a16="http://schemas.microsoft.com/office/drawing/2014/main" id="{F2048650-DC7C-452E-94BC-631DC63B31C9}"/>
              </a:ext>
            </a:extLst>
          </p:cNvPr>
          <p:cNvPicPr>
            <a:picLocks noChangeAspect="1"/>
          </p:cNvPicPr>
          <p:nvPr/>
        </p:nvPicPr>
        <p:blipFill>
          <a:blip r:embed="rId4"/>
          <a:stretch>
            <a:fillRect/>
          </a:stretch>
        </p:blipFill>
        <p:spPr>
          <a:xfrm>
            <a:off x="4218736" y="242626"/>
            <a:ext cx="4409123" cy="3357293"/>
          </a:xfrm>
          <a:prstGeom prst="rect">
            <a:avLst/>
          </a:prstGeom>
        </p:spPr>
      </p:pic>
    </p:spTree>
    <p:extLst>
      <p:ext uri="{BB962C8B-B14F-4D97-AF65-F5344CB8AC3E}">
        <p14:creationId xmlns:p14="http://schemas.microsoft.com/office/powerpoint/2010/main" val="22243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ECC45-A942-9F78-934F-2586D0141C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F931EB-03F9-434F-8398-05298904D35A}"/>
              </a:ext>
            </a:extLst>
          </p:cNvPr>
          <p:cNvSpPr>
            <a:spLocks noGrp="1"/>
          </p:cNvSpPr>
          <p:nvPr>
            <p:ph type="title"/>
          </p:nvPr>
        </p:nvSpPr>
        <p:spPr/>
        <p:txBody>
          <a:bodyPr/>
          <a:lstStyle/>
          <a:p>
            <a:r>
              <a:rPr lang="en-US" dirty="0"/>
              <a:t>Faceted Data</a:t>
            </a:r>
            <a:endParaRPr lang="en-GB" dirty="0"/>
          </a:p>
        </p:txBody>
      </p:sp>
      <p:pic>
        <p:nvPicPr>
          <p:cNvPr id="3" name="Picture 2">
            <a:extLst>
              <a:ext uri="{FF2B5EF4-FFF2-40B4-BE49-F238E27FC236}">
                <a16:creationId xmlns:a16="http://schemas.microsoft.com/office/drawing/2014/main" id="{DC2D01D9-083A-7A34-02C0-0DC4D19511C4}"/>
              </a:ext>
            </a:extLst>
          </p:cNvPr>
          <p:cNvPicPr>
            <a:picLocks noChangeAspect="1"/>
          </p:cNvPicPr>
          <p:nvPr/>
        </p:nvPicPr>
        <p:blipFill>
          <a:blip r:embed="rId2"/>
          <a:stretch>
            <a:fillRect/>
          </a:stretch>
        </p:blipFill>
        <p:spPr>
          <a:xfrm>
            <a:off x="372219" y="2346649"/>
            <a:ext cx="8399562" cy="2164702"/>
          </a:xfrm>
          <a:prstGeom prst="rect">
            <a:avLst/>
          </a:prstGeom>
        </p:spPr>
      </p:pic>
    </p:spTree>
    <p:extLst>
      <p:ext uri="{BB962C8B-B14F-4D97-AF65-F5344CB8AC3E}">
        <p14:creationId xmlns:p14="http://schemas.microsoft.com/office/powerpoint/2010/main" val="1941036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111B41-EEF6-45D4-803F-098775083B09}"/>
              </a:ext>
            </a:extLst>
          </p:cNvPr>
          <p:cNvPicPr>
            <a:picLocks noChangeAspect="1"/>
          </p:cNvPicPr>
          <p:nvPr/>
        </p:nvPicPr>
        <p:blipFill>
          <a:blip r:embed="rId2"/>
          <a:stretch>
            <a:fillRect/>
          </a:stretch>
        </p:blipFill>
        <p:spPr>
          <a:xfrm>
            <a:off x="1761522" y="0"/>
            <a:ext cx="6468078" cy="6858000"/>
          </a:xfrm>
          <a:prstGeom prst="rect">
            <a:avLst/>
          </a:prstGeom>
        </p:spPr>
      </p:pic>
    </p:spTree>
    <p:extLst>
      <p:ext uri="{BB962C8B-B14F-4D97-AF65-F5344CB8AC3E}">
        <p14:creationId xmlns:p14="http://schemas.microsoft.com/office/powerpoint/2010/main" val="1956524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C3A1D5-DBAD-145B-BA32-39D9B5F1271E}"/>
              </a:ext>
            </a:extLst>
          </p:cNvPr>
          <p:cNvPicPr>
            <a:picLocks noChangeAspect="1"/>
          </p:cNvPicPr>
          <p:nvPr/>
        </p:nvPicPr>
        <p:blipFill>
          <a:blip r:embed="rId3"/>
          <a:stretch>
            <a:fillRect/>
          </a:stretch>
        </p:blipFill>
        <p:spPr>
          <a:xfrm>
            <a:off x="171450" y="1211590"/>
            <a:ext cx="8801100" cy="50977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8542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4572B6-A906-6BB9-E918-82A980B36702}"/>
              </a:ext>
            </a:extLst>
          </p:cNvPr>
          <p:cNvPicPr>
            <a:picLocks noChangeAspect="1"/>
          </p:cNvPicPr>
          <p:nvPr/>
        </p:nvPicPr>
        <p:blipFill>
          <a:blip r:embed="rId2"/>
          <a:stretch>
            <a:fillRect/>
          </a:stretch>
        </p:blipFill>
        <p:spPr>
          <a:xfrm>
            <a:off x="0" y="1590847"/>
            <a:ext cx="9144000" cy="3676305"/>
          </a:xfrm>
          <a:prstGeom prst="rect">
            <a:avLst/>
          </a:prstGeom>
        </p:spPr>
      </p:pic>
    </p:spTree>
    <p:extLst>
      <p:ext uri="{BB962C8B-B14F-4D97-AF65-F5344CB8AC3E}">
        <p14:creationId xmlns:p14="http://schemas.microsoft.com/office/powerpoint/2010/main" val="3423672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18E3C9-C324-A1DF-38A9-4A91E5278080}"/>
              </a:ext>
            </a:extLst>
          </p:cNvPr>
          <p:cNvSpPr>
            <a:spLocks noGrp="1"/>
          </p:cNvSpPr>
          <p:nvPr>
            <p:ph idx="1"/>
          </p:nvPr>
        </p:nvSpPr>
        <p:spPr>
          <a:xfrm>
            <a:off x="628650" y="1189973"/>
            <a:ext cx="2748534" cy="5425401"/>
          </a:xfrm>
        </p:spPr>
        <p:txBody>
          <a:bodyPr/>
          <a:lstStyle/>
          <a:p>
            <a:r>
              <a:rPr lang="en-GB" dirty="0"/>
              <a:t>https://iris.unitn.it/retrieve/handle/11572/280230/381337/Pub1.pdf</a:t>
            </a:r>
          </a:p>
        </p:txBody>
      </p:sp>
      <p:pic>
        <p:nvPicPr>
          <p:cNvPr id="4" name="Picture 3">
            <a:extLst>
              <a:ext uri="{FF2B5EF4-FFF2-40B4-BE49-F238E27FC236}">
                <a16:creationId xmlns:a16="http://schemas.microsoft.com/office/drawing/2014/main" id="{8A8D1FD1-1145-DE4E-9C0F-80902D0698CB}"/>
              </a:ext>
            </a:extLst>
          </p:cNvPr>
          <p:cNvPicPr>
            <a:picLocks noChangeAspect="1"/>
          </p:cNvPicPr>
          <p:nvPr/>
        </p:nvPicPr>
        <p:blipFill>
          <a:blip r:embed="rId2"/>
          <a:stretch>
            <a:fillRect/>
          </a:stretch>
        </p:blipFill>
        <p:spPr>
          <a:xfrm>
            <a:off x="3373089" y="1011936"/>
            <a:ext cx="5727325" cy="4834128"/>
          </a:xfrm>
          <a:prstGeom prst="rect">
            <a:avLst/>
          </a:prstGeom>
        </p:spPr>
      </p:pic>
    </p:spTree>
    <p:extLst>
      <p:ext uri="{BB962C8B-B14F-4D97-AF65-F5344CB8AC3E}">
        <p14:creationId xmlns:p14="http://schemas.microsoft.com/office/powerpoint/2010/main" val="2157726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24A829-6DEB-237B-7EA4-EBDB3F7261C8}"/>
              </a:ext>
            </a:extLst>
          </p:cNvPr>
          <p:cNvPicPr>
            <a:picLocks noChangeAspect="1"/>
          </p:cNvPicPr>
          <p:nvPr/>
        </p:nvPicPr>
        <p:blipFill>
          <a:blip r:embed="rId2"/>
          <a:stretch>
            <a:fillRect/>
          </a:stretch>
        </p:blipFill>
        <p:spPr>
          <a:xfrm>
            <a:off x="1757362" y="2090737"/>
            <a:ext cx="5629275" cy="2676525"/>
          </a:xfrm>
          <a:prstGeom prst="rect">
            <a:avLst/>
          </a:prstGeom>
        </p:spPr>
      </p:pic>
    </p:spTree>
    <p:extLst>
      <p:ext uri="{BB962C8B-B14F-4D97-AF65-F5344CB8AC3E}">
        <p14:creationId xmlns:p14="http://schemas.microsoft.com/office/powerpoint/2010/main" val="4293055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845C3D-BD86-757E-6EA1-6233B06BB142}"/>
              </a:ext>
            </a:extLst>
          </p:cNvPr>
          <p:cNvSpPr>
            <a:spLocks noGrp="1"/>
          </p:cNvSpPr>
          <p:nvPr>
            <p:ph idx="1"/>
          </p:nvPr>
        </p:nvSpPr>
        <p:spPr/>
        <p:txBody>
          <a:bodyPr>
            <a:normAutofit/>
          </a:bodyPr>
          <a:lstStyle/>
          <a:p>
            <a:pPr algn="just"/>
            <a:r>
              <a:rPr lang="en-GB" sz="2000" b="0" i="1" dirty="0">
                <a:solidFill>
                  <a:srgbClr val="242424"/>
                </a:solidFill>
                <a:effectLst/>
                <a:latin typeface="Helvetica Neue"/>
              </a:rPr>
              <a:t>Read the paper: S. Fiore et al. (2019) (in your reading list for this week). Making reference to page 117659 and the paragraph which begins, "Through an API or via web pages, ...", write a similar paragraph which is applicable for the system that you have designed and developed."</a:t>
            </a:r>
            <a:endParaRPr lang="en-GB" sz="2000" b="0" i="0" dirty="0">
              <a:solidFill>
                <a:srgbClr val="242424"/>
              </a:solidFill>
              <a:effectLst/>
              <a:latin typeface="Helvetica Neue"/>
            </a:endParaRPr>
          </a:p>
          <a:p>
            <a:pPr marL="0" indent="0" algn="just">
              <a:buNone/>
            </a:pPr>
            <a:br>
              <a:rPr lang="en-GB" sz="2000" b="0" i="0" dirty="0">
                <a:solidFill>
                  <a:srgbClr val="242424"/>
                </a:solidFill>
                <a:effectLst/>
                <a:latin typeface="Helvetica Neue"/>
              </a:rPr>
            </a:br>
            <a:endParaRPr lang="en-GB" sz="2000" b="0" i="0" dirty="0">
              <a:solidFill>
                <a:srgbClr val="242424"/>
              </a:solidFill>
              <a:effectLst/>
              <a:latin typeface="Helvetica Neue"/>
            </a:endParaRPr>
          </a:p>
          <a:p>
            <a:pPr algn="just"/>
            <a:r>
              <a:rPr lang="en-GB" sz="2000" b="0" i="0" dirty="0">
                <a:solidFill>
                  <a:srgbClr val="242424"/>
                </a:solidFill>
                <a:effectLst/>
                <a:latin typeface="Helvetica Neue"/>
              </a:rPr>
              <a:t>Through web pages and REST API, the NCTTS web application provides: </a:t>
            </a:r>
            <a:r>
              <a:rPr lang="en-GB" sz="2000" b="0" i="0" dirty="0" err="1">
                <a:solidFill>
                  <a:srgbClr val="242424"/>
                </a:solidFill>
                <a:effectLst/>
                <a:latin typeface="Helvetica Neue"/>
              </a:rPr>
              <a:t>i</a:t>
            </a:r>
            <a:r>
              <a:rPr lang="en-GB" sz="2000" b="0" i="0" dirty="0">
                <a:solidFill>
                  <a:srgbClr val="242424"/>
                </a:solidFill>
                <a:effectLst/>
                <a:latin typeface="Helvetica Neue"/>
              </a:rPr>
              <a:t>) authentication (sign in, sign up, create user accounts, delete user accounts), ii) authorization (operator role [can verify and escalate vulnerabilities, change the status of vulnerabilities] and admin role [can add/edit/delete user accounts], manage databases), iii) reporting (submit vulnerability reports, view fixed vulnerabilities) and </a:t>
            </a:r>
            <a:r>
              <a:rPr lang="en-GB" sz="2000" b="0" i="0" dirty="0" err="1">
                <a:solidFill>
                  <a:srgbClr val="242424"/>
                </a:solidFill>
                <a:effectLst/>
                <a:latin typeface="Helvetica Neue"/>
              </a:rPr>
              <a:t>iV</a:t>
            </a:r>
            <a:r>
              <a:rPr lang="en-GB" sz="2000" b="0" i="0" dirty="0">
                <a:solidFill>
                  <a:srgbClr val="242424"/>
                </a:solidFill>
                <a:effectLst/>
                <a:latin typeface="Helvetica Neue"/>
              </a:rPr>
              <a:t>) other features (request deletion of own accounts [public user], send updates to public users via email). </a:t>
            </a:r>
          </a:p>
          <a:p>
            <a:pPr algn="just"/>
            <a:endParaRPr lang="en-GB" sz="2000" b="1" dirty="0"/>
          </a:p>
        </p:txBody>
      </p:sp>
    </p:spTree>
    <p:extLst>
      <p:ext uri="{BB962C8B-B14F-4D97-AF65-F5344CB8AC3E}">
        <p14:creationId xmlns:p14="http://schemas.microsoft.com/office/powerpoint/2010/main" val="3692254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0A69-1F50-9436-9D56-87732D3D6B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DC8429-4012-C890-5C7A-64BDE9DEC822}"/>
              </a:ext>
            </a:extLst>
          </p:cNvPr>
          <p:cNvSpPr>
            <a:spLocks noGrp="1"/>
          </p:cNvSpPr>
          <p:nvPr>
            <p:ph type="title"/>
          </p:nvPr>
        </p:nvSpPr>
        <p:spPr/>
        <p:txBody>
          <a:bodyPr/>
          <a:lstStyle/>
          <a:p>
            <a:r>
              <a:rPr lang="en-US" dirty="0"/>
              <a:t>Collaborative Discussion 2</a:t>
            </a:r>
            <a:endParaRPr lang="en-GB" dirty="0"/>
          </a:p>
        </p:txBody>
      </p:sp>
      <p:sp>
        <p:nvSpPr>
          <p:cNvPr id="2" name="Content Placeholder 1">
            <a:extLst>
              <a:ext uri="{FF2B5EF4-FFF2-40B4-BE49-F238E27FC236}">
                <a16:creationId xmlns:a16="http://schemas.microsoft.com/office/drawing/2014/main" id="{E5D4E253-62EB-44B3-9C1B-D03C10931A77}"/>
              </a:ext>
            </a:extLst>
          </p:cNvPr>
          <p:cNvSpPr>
            <a:spLocks noGrp="1"/>
          </p:cNvSpPr>
          <p:nvPr>
            <p:ph idx="1"/>
          </p:nvPr>
        </p:nvSpPr>
        <p:spPr>
          <a:xfrm>
            <a:off x="628650" y="1931670"/>
            <a:ext cx="7886700" cy="4820864"/>
          </a:xfrm>
        </p:spPr>
        <p:txBody>
          <a:bodyPr>
            <a:normAutofit/>
          </a:bodyPr>
          <a:lstStyle/>
          <a:p>
            <a:pPr algn="just"/>
            <a:r>
              <a:rPr lang="en-GB" sz="1800" b="1" i="0" dirty="0">
                <a:solidFill>
                  <a:srgbClr val="373A3C"/>
                </a:solidFill>
                <a:effectLst/>
                <a:latin typeface="arial" panose="020B0604020202020204" pitchFamily="34" charset="0"/>
              </a:rPr>
              <a:t>Discussion Topic</a:t>
            </a:r>
          </a:p>
          <a:p>
            <a:pPr algn="just"/>
            <a:r>
              <a:rPr lang="en-GB" sz="1800" b="0" i="0" dirty="0">
                <a:solidFill>
                  <a:srgbClr val="373A3C"/>
                </a:solidFill>
                <a:effectLst/>
                <a:latin typeface="arial" panose="020B0604020202020204" pitchFamily="34" charset="0"/>
              </a:rPr>
              <a:t>TrueCrypt was a popular and well-respected operating system add-on that could create encrypted volumes on a Windows and/or Linux system. In addition, it was also designed to create a complete, bootable volume that could encrypt the entire operating system and data for a Windows XP system. It was discontinued in 2014.</a:t>
            </a:r>
          </a:p>
          <a:p>
            <a:pPr algn="just"/>
            <a:r>
              <a:rPr lang="en-GB" sz="1800" b="0" i="0" dirty="0">
                <a:solidFill>
                  <a:srgbClr val="373A3C"/>
                </a:solidFill>
                <a:effectLst/>
                <a:latin typeface="arial" panose="020B0604020202020204" pitchFamily="34" charset="0"/>
              </a:rPr>
              <a:t>Case Study: Read the TrueCrypt cryptanalysis by </a:t>
            </a:r>
            <a:r>
              <a:rPr lang="en-GB" sz="1800" b="0" i="0" dirty="0" err="1">
                <a:solidFill>
                  <a:srgbClr val="373A3C"/>
                </a:solidFill>
                <a:effectLst/>
                <a:latin typeface="arial" panose="020B0604020202020204" pitchFamily="34" charset="0"/>
              </a:rPr>
              <a:t>Junestam</a:t>
            </a:r>
            <a:r>
              <a:rPr lang="en-GB" sz="1800" b="0" i="0" dirty="0">
                <a:solidFill>
                  <a:srgbClr val="373A3C"/>
                </a:solidFill>
                <a:effectLst/>
                <a:latin typeface="arial" panose="020B0604020202020204" pitchFamily="34" charset="0"/>
              </a:rPr>
              <a:t> &amp; </a:t>
            </a:r>
            <a:r>
              <a:rPr lang="en-GB" sz="1800" b="0" i="0" dirty="0" err="1">
                <a:solidFill>
                  <a:srgbClr val="373A3C"/>
                </a:solidFill>
                <a:effectLst/>
                <a:latin typeface="arial" panose="020B0604020202020204" pitchFamily="34" charset="0"/>
              </a:rPr>
              <a:t>Guigo</a:t>
            </a:r>
            <a:r>
              <a:rPr lang="en-GB" sz="1800" b="0" i="0" dirty="0">
                <a:solidFill>
                  <a:srgbClr val="373A3C"/>
                </a:solidFill>
                <a:effectLst/>
                <a:latin typeface="arial" panose="020B0604020202020204" pitchFamily="34" charset="0"/>
              </a:rPr>
              <a:t> (2014) (link is in the reading list) and then answer the following questions:</a:t>
            </a:r>
          </a:p>
          <a:p>
            <a:pPr algn="just">
              <a:buFont typeface="Arial" panose="020B0604020202020204" pitchFamily="34" charset="0"/>
              <a:buChar char="•"/>
            </a:pPr>
            <a:r>
              <a:rPr lang="en-GB" sz="1800" b="0" i="0" dirty="0">
                <a:solidFill>
                  <a:srgbClr val="373A3C"/>
                </a:solidFill>
                <a:effectLst/>
                <a:latin typeface="arial" panose="020B0604020202020204" pitchFamily="34" charset="0"/>
              </a:rPr>
              <a:t>The (anonymous) TrueCrypt authors have said “Using TrueCrypt is not secure as it may contain unfixed security issues” (</a:t>
            </a:r>
            <a:r>
              <a:rPr lang="en-GB" sz="1800" b="1" i="0" u="sng" dirty="0">
                <a:solidFill>
                  <a:srgbClr val="622567"/>
                </a:solidFill>
                <a:effectLst/>
                <a:latin typeface="arial" panose="020B0604020202020204" pitchFamily="34" charset="0"/>
                <a:hlinkClick r:id="rId2"/>
              </a:rPr>
              <a:t>http://truecrypt.sourceforge.net/</a:t>
            </a:r>
            <a:r>
              <a:rPr lang="en-GB" sz="1800" b="0" i="0" dirty="0">
                <a:solidFill>
                  <a:srgbClr val="373A3C"/>
                </a:solidFill>
                <a:effectLst/>
                <a:latin typeface="arial" panose="020B0604020202020204" pitchFamily="34" charset="0"/>
              </a:rPr>
              <a:t>, 2014). Does the cryptanalysis provided above prove or disprove this assumption?</a:t>
            </a:r>
          </a:p>
          <a:p>
            <a:pPr algn="just">
              <a:buFont typeface="Arial" panose="020B0604020202020204" pitchFamily="34" charset="0"/>
              <a:buChar char="•"/>
            </a:pPr>
            <a:r>
              <a:rPr lang="en-GB" sz="1800" b="0" i="0" dirty="0">
                <a:solidFill>
                  <a:srgbClr val="373A3C"/>
                </a:solidFill>
                <a:effectLst/>
                <a:latin typeface="arial" panose="020B0604020202020204" pitchFamily="34" charset="0"/>
              </a:rPr>
              <a:t>Would you be prepared to recommend TrueCrypt to a friend as a secure storage environment? What caveats (if any) would you add?</a:t>
            </a:r>
          </a:p>
          <a:p>
            <a:pPr algn="just"/>
            <a:r>
              <a:rPr lang="en-GB" sz="1800" b="0" i="0" dirty="0">
                <a:solidFill>
                  <a:srgbClr val="373A3C"/>
                </a:solidFill>
                <a:effectLst/>
                <a:latin typeface="arial" panose="020B0604020202020204" pitchFamily="34" charset="0"/>
              </a:rPr>
              <a:t>Remember to save this to your e-portfolio.</a:t>
            </a:r>
          </a:p>
          <a:p>
            <a:pPr algn="just"/>
            <a:endParaRPr lang="en-GB" sz="1800" dirty="0"/>
          </a:p>
        </p:txBody>
      </p:sp>
    </p:spTree>
    <p:extLst>
      <p:ext uri="{BB962C8B-B14F-4D97-AF65-F5344CB8AC3E}">
        <p14:creationId xmlns:p14="http://schemas.microsoft.com/office/powerpoint/2010/main" val="39194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55FA87-021C-4DC2-9815-A3E10A578CDF}"/>
              </a:ext>
            </a:extLst>
          </p:cNvPr>
          <p:cNvPicPr>
            <a:picLocks noChangeAspect="1"/>
          </p:cNvPicPr>
          <p:nvPr/>
        </p:nvPicPr>
        <p:blipFill>
          <a:blip r:embed="rId2"/>
          <a:stretch>
            <a:fillRect/>
          </a:stretch>
        </p:blipFill>
        <p:spPr>
          <a:xfrm>
            <a:off x="160020" y="1680210"/>
            <a:ext cx="4784027" cy="502920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1C096880-985C-4CC5-871E-F6E513085E55}"/>
              </a:ext>
            </a:extLst>
          </p:cNvPr>
          <p:cNvPicPr>
            <a:picLocks noChangeAspect="1"/>
          </p:cNvPicPr>
          <p:nvPr/>
        </p:nvPicPr>
        <p:blipFill>
          <a:blip r:embed="rId3"/>
          <a:stretch>
            <a:fillRect/>
          </a:stretch>
        </p:blipFill>
        <p:spPr>
          <a:xfrm>
            <a:off x="4572000" y="148590"/>
            <a:ext cx="4410941" cy="26955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39382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8B0C-BD1D-C2DA-B7F3-144557CDA0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11C05D-C464-E7B4-1E1D-F8A5DA7D0038}"/>
              </a:ext>
            </a:extLst>
          </p:cNvPr>
          <p:cNvSpPr>
            <a:spLocks noGrp="1"/>
          </p:cNvSpPr>
          <p:nvPr>
            <p:ph type="title"/>
          </p:nvPr>
        </p:nvSpPr>
        <p:spPr/>
        <p:txBody>
          <a:bodyPr/>
          <a:lstStyle/>
          <a:p>
            <a:r>
              <a:rPr lang="en-US" dirty="0"/>
              <a:t>Summary</a:t>
            </a:r>
            <a:endParaRPr lang="en-GB" dirty="0"/>
          </a:p>
        </p:txBody>
      </p:sp>
      <p:pic>
        <p:nvPicPr>
          <p:cNvPr id="6" name="Picture 5">
            <a:extLst>
              <a:ext uri="{FF2B5EF4-FFF2-40B4-BE49-F238E27FC236}">
                <a16:creationId xmlns:a16="http://schemas.microsoft.com/office/drawing/2014/main" id="{C0C12105-F006-38D8-1DBF-9907ADFC7A1B}"/>
              </a:ext>
            </a:extLst>
          </p:cNvPr>
          <p:cNvPicPr>
            <a:picLocks noChangeAspect="1"/>
          </p:cNvPicPr>
          <p:nvPr/>
        </p:nvPicPr>
        <p:blipFill>
          <a:blip r:embed="rId2"/>
          <a:stretch>
            <a:fillRect/>
          </a:stretch>
        </p:blipFill>
        <p:spPr>
          <a:xfrm>
            <a:off x="2351314" y="1169552"/>
            <a:ext cx="5895345" cy="52794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22811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5D2082-842C-4A09-8CEE-B0CF5AB469C1}"/>
              </a:ext>
            </a:extLst>
          </p:cNvPr>
          <p:cNvSpPr>
            <a:spLocks noGrp="1"/>
          </p:cNvSpPr>
          <p:nvPr>
            <p:ph idx="1"/>
          </p:nvPr>
        </p:nvSpPr>
        <p:spPr/>
        <p:txBody>
          <a:bodyPr>
            <a:normAutofit lnSpcReduction="10000"/>
          </a:bodyPr>
          <a:lstStyle/>
          <a:p>
            <a:pPr algn="just"/>
            <a:r>
              <a:rPr lang="en-GB" sz="1800" b="1" i="0" u="sng" dirty="0">
                <a:solidFill>
                  <a:srgbClr val="373A3C"/>
                </a:solidFill>
                <a:effectLst/>
                <a:latin typeface="arial" panose="020B0604020202020204" pitchFamily="34" charset="0"/>
              </a:rPr>
              <a:t>“Using TrueCrypt is not secure as it may contain unfixed security issues” </a:t>
            </a:r>
            <a:r>
              <a:rPr lang="en-GB" b="1" i="0" u="sng" dirty="0">
                <a:solidFill>
                  <a:srgbClr val="373A3C"/>
                </a:solidFill>
                <a:effectLst/>
                <a:latin typeface="arial" panose="020B0604020202020204" pitchFamily="34" charset="0"/>
              </a:rPr>
              <a:t>:</a:t>
            </a:r>
            <a:endParaRPr lang="en-GB" b="0" i="0" dirty="0">
              <a:solidFill>
                <a:srgbClr val="373A3C"/>
              </a:solidFill>
              <a:effectLst/>
              <a:latin typeface="arial" panose="020B0604020202020204" pitchFamily="34" charset="0"/>
            </a:endParaRPr>
          </a:p>
          <a:p>
            <a:pPr algn="just"/>
            <a:r>
              <a:rPr lang="en-GB" sz="1800" b="0" i="0" dirty="0" err="1">
                <a:solidFill>
                  <a:srgbClr val="373A3C"/>
                </a:solidFill>
                <a:effectLst/>
                <a:latin typeface="arial" panose="020B0604020202020204" pitchFamily="34" charset="0"/>
              </a:rPr>
              <a:t>Junestam</a:t>
            </a:r>
            <a:r>
              <a:rPr lang="en-GB" sz="1800" b="0" i="0" dirty="0">
                <a:solidFill>
                  <a:srgbClr val="373A3C"/>
                </a:solidFill>
                <a:effectLst/>
                <a:latin typeface="arial" panose="020B0604020202020204" pitchFamily="34" charset="0"/>
              </a:rPr>
              <a:t> &amp; </a:t>
            </a:r>
            <a:r>
              <a:rPr lang="en-GB" sz="1800" b="0" i="0" dirty="0" err="1">
                <a:solidFill>
                  <a:srgbClr val="373A3C"/>
                </a:solidFill>
                <a:effectLst/>
                <a:latin typeface="arial" panose="020B0604020202020204" pitchFamily="34" charset="0"/>
              </a:rPr>
              <a:t>Guigo</a:t>
            </a:r>
            <a:r>
              <a:rPr lang="en-GB" sz="1800" b="0" i="0" dirty="0">
                <a:solidFill>
                  <a:srgbClr val="373A3C"/>
                </a:solidFill>
                <a:effectLst/>
                <a:latin typeface="arial" panose="020B0604020202020204" pitchFamily="34" charset="0"/>
              </a:rPr>
              <a:t> ,2014 suggest that "Overall, the source code for both the bootloader and the Windows kernel driver did not meet expected standards for secure code". This statement makes it clear that the tool is not secure.</a:t>
            </a:r>
            <a:endParaRPr lang="en-GB" b="0" i="0" dirty="0">
              <a:solidFill>
                <a:srgbClr val="373A3C"/>
              </a:solidFill>
              <a:effectLst/>
              <a:latin typeface="arial" panose="020B0604020202020204" pitchFamily="34" charset="0"/>
            </a:endParaRPr>
          </a:p>
          <a:p>
            <a:pPr marL="228600" indent="-228600" algn="just"/>
            <a:r>
              <a:rPr lang="en-GB" sz="1800" b="0" i="0" dirty="0">
                <a:solidFill>
                  <a:srgbClr val="373A3C"/>
                </a:solidFill>
                <a:effectLst/>
                <a:latin typeface="arial" panose="020B0604020202020204" pitchFamily="34" charset="0"/>
              </a:rPr>
              <a:t>-       The audit identified many problems in the source that affected the quality and maintainability of the code, this without directly leading to security problems. It is clear that quality problem in the coding will lead to serious security problems.</a:t>
            </a:r>
            <a:endParaRPr lang="en-GB" b="0" i="0" dirty="0">
              <a:solidFill>
                <a:srgbClr val="373A3C"/>
              </a:solidFill>
              <a:effectLst/>
              <a:latin typeface="arial" panose="020B0604020202020204" pitchFamily="34" charset="0"/>
            </a:endParaRPr>
          </a:p>
          <a:p>
            <a:pPr marL="228600" indent="-228600" algn="just"/>
            <a:r>
              <a:rPr lang="en-GB" sz="1800" b="0" i="0" dirty="0">
                <a:solidFill>
                  <a:srgbClr val="373A3C"/>
                </a:solidFill>
                <a:effectLst/>
                <a:latin typeface="arial" panose="020B0604020202020204" pitchFamily="34" charset="0"/>
              </a:rPr>
              <a:t>-       The audit specifies that "no care is taken to prevent integers from overflowing or underflowing when these operations are performed". Change to this code can lead to security issues like "Buffer overflow". It is ranked number one  on the CWE Top 25 2019</a:t>
            </a:r>
            <a:r>
              <a:rPr lang="en-GB" b="0" i="0" dirty="0">
                <a:solidFill>
                  <a:srgbClr val="373A3C"/>
                </a:solidFill>
                <a:effectLst/>
                <a:latin typeface="arial" panose="020B0604020202020204" pitchFamily="34" charset="0"/>
              </a:rPr>
              <a:t> (CWE,2019).</a:t>
            </a:r>
          </a:p>
          <a:p>
            <a:pPr marL="228600" indent="-228600" algn="just"/>
            <a:r>
              <a:rPr lang="en-GB" sz="1800" b="0" i="0" dirty="0">
                <a:solidFill>
                  <a:srgbClr val="373A3C"/>
                </a:solidFill>
                <a:effectLst/>
                <a:latin typeface="arial" panose="020B0604020202020204" pitchFamily="34" charset="0"/>
              </a:rPr>
              <a:t>-       Suppressing warning messages is another bad </a:t>
            </a:r>
            <a:r>
              <a:rPr lang="en-GB" sz="1800" b="0" i="0" dirty="0" err="1">
                <a:solidFill>
                  <a:srgbClr val="373A3C"/>
                </a:solidFill>
                <a:effectLst/>
                <a:latin typeface="arial" panose="020B0604020202020204" pitchFamily="34" charset="0"/>
              </a:rPr>
              <a:t>programing</a:t>
            </a:r>
            <a:r>
              <a:rPr lang="en-GB" sz="1800" b="0" i="0" dirty="0">
                <a:solidFill>
                  <a:srgbClr val="373A3C"/>
                </a:solidFill>
                <a:effectLst/>
                <a:latin typeface="arial" panose="020B0604020202020204" pitchFamily="34" charset="0"/>
              </a:rPr>
              <a:t> practice identified by the audit. Always better to remove the source of the warning rather then suppressing the warning.</a:t>
            </a:r>
            <a:endParaRPr lang="en-GB" b="0" i="0" dirty="0">
              <a:solidFill>
                <a:srgbClr val="373A3C"/>
              </a:solidFill>
              <a:effectLst/>
              <a:latin typeface="arial" panose="020B0604020202020204" pitchFamily="34" charset="0"/>
            </a:endParaRPr>
          </a:p>
          <a:p>
            <a:pPr marL="228600" indent="-228600" algn="just"/>
            <a:r>
              <a:rPr lang="en-GB" sz="1800" b="0" i="0" dirty="0">
                <a:solidFill>
                  <a:srgbClr val="373A3C"/>
                </a:solidFill>
                <a:effectLst/>
                <a:latin typeface="arial" panose="020B0604020202020204" pitchFamily="34" charset="0"/>
              </a:rPr>
              <a:t>-       The fact the code is difficult to read is another bad indication for potential security issues. It makes the task of maintaining the code very hard to perform and can lead to wrong coding.</a:t>
            </a:r>
            <a:endParaRPr lang="en-GB" b="0" i="0" dirty="0">
              <a:solidFill>
                <a:srgbClr val="373A3C"/>
              </a:solidFill>
              <a:effectLst/>
              <a:latin typeface="arial" panose="020B0604020202020204" pitchFamily="34" charset="0"/>
            </a:endParaRPr>
          </a:p>
          <a:p>
            <a:pPr algn="just"/>
            <a:endParaRPr lang="en-GB" dirty="0"/>
          </a:p>
        </p:txBody>
      </p:sp>
    </p:spTree>
    <p:extLst>
      <p:ext uri="{BB962C8B-B14F-4D97-AF65-F5344CB8AC3E}">
        <p14:creationId xmlns:p14="http://schemas.microsoft.com/office/powerpoint/2010/main" val="375800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7B0BB1-FA9F-49AB-BCE8-E45AF5751D03}"/>
              </a:ext>
            </a:extLst>
          </p:cNvPr>
          <p:cNvSpPr>
            <a:spLocks noGrp="1"/>
          </p:cNvSpPr>
          <p:nvPr>
            <p:ph idx="1"/>
          </p:nvPr>
        </p:nvSpPr>
        <p:spPr/>
        <p:txBody>
          <a:bodyPr/>
          <a:lstStyle/>
          <a:p>
            <a:pPr algn="l"/>
            <a:r>
              <a:rPr lang="en-GB" sz="1800" b="1" i="0" u="sng" dirty="0">
                <a:solidFill>
                  <a:srgbClr val="373A3C"/>
                </a:solidFill>
                <a:effectLst/>
                <a:latin typeface="arial" panose="020B0604020202020204" pitchFamily="34" charset="0"/>
              </a:rPr>
              <a:t>Would you be prepared to recommend TrueCrypt to a friend as a secure storage environment?</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Reading the audit report convinced me not to recommend the tool to anyone. The tool has some serious built-in failures.</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The tool is not secure. I will present two alternatives:</a:t>
            </a:r>
            <a:endParaRPr lang="en-GB" b="0" i="0" dirty="0">
              <a:solidFill>
                <a:srgbClr val="373A3C"/>
              </a:solidFill>
              <a:effectLst/>
              <a:latin typeface="arial" panose="020B0604020202020204" pitchFamily="34" charset="0"/>
            </a:endParaRPr>
          </a:p>
          <a:p>
            <a:pPr marL="457200" indent="-228600" algn="l"/>
            <a:r>
              <a:rPr lang="en-GB" sz="1800" b="0" i="0" dirty="0">
                <a:solidFill>
                  <a:srgbClr val="373A3C"/>
                </a:solidFill>
                <a:effectLst/>
                <a:latin typeface="arial" panose="020B0604020202020204" pitchFamily="34" charset="0"/>
              </a:rPr>
              <a:t>-       To develop a new tool following the "best practice" suggested by  </a:t>
            </a:r>
            <a:r>
              <a:rPr lang="en-GB" sz="1800" b="0" i="0" dirty="0" err="1">
                <a:solidFill>
                  <a:srgbClr val="373A3C"/>
                </a:solidFill>
                <a:effectLst/>
                <a:latin typeface="arial" panose="020B0604020202020204" pitchFamily="34" charset="0"/>
              </a:rPr>
              <a:t>Saltzer</a:t>
            </a:r>
            <a:r>
              <a:rPr lang="en-GB" sz="1800" b="0" i="0" dirty="0">
                <a:solidFill>
                  <a:srgbClr val="373A3C"/>
                </a:solidFill>
                <a:effectLst/>
                <a:latin typeface="arial" panose="020B0604020202020204" pitchFamily="34" charset="0"/>
              </a:rPr>
              <a:t>, J. &amp; Schroeder, M. (1975) and others.</a:t>
            </a:r>
            <a:endParaRPr lang="en-GB" b="0" i="0" dirty="0">
              <a:solidFill>
                <a:srgbClr val="373A3C"/>
              </a:solidFill>
              <a:effectLst/>
              <a:latin typeface="arial" panose="020B0604020202020204" pitchFamily="34" charset="0"/>
            </a:endParaRPr>
          </a:p>
          <a:p>
            <a:pPr marL="457200" indent="-228600" algn="l"/>
            <a:r>
              <a:rPr lang="en-GB" sz="1800" b="0" i="0" dirty="0">
                <a:solidFill>
                  <a:srgbClr val="373A3C"/>
                </a:solidFill>
                <a:effectLst/>
                <a:latin typeface="arial" panose="020B0604020202020204" pitchFamily="34" charset="0"/>
              </a:rPr>
              <a:t>-       Use other tools which are available to be used for example VeraCrypt or </a:t>
            </a:r>
            <a:r>
              <a:rPr lang="en-GB" sz="1800" b="0" i="0" dirty="0" err="1">
                <a:solidFill>
                  <a:srgbClr val="373A3C"/>
                </a:solidFill>
                <a:effectLst/>
                <a:latin typeface="arial" panose="020B0604020202020204" pitchFamily="34" charset="0"/>
              </a:rPr>
              <a:t>Bitlocker</a:t>
            </a:r>
            <a:r>
              <a:rPr lang="en-GB" sz="1800" b="0" i="0" dirty="0">
                <a:solidFill>
                  <a:srgbClr val="373A3C"/>
                </a:solidFill>
                <a:effectLst/>
                <a:latin typeface="arial" panose="020B0604020202020204" pitchFamily="34" charset="0"/>
              </a:rPr>
              <a:t> and others.</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Each alternative has its own cost / benefit in terms of efforts and resources.</a:t>
            </a:r>
            <a:endParaRPr lang="en-GB" b="0" i="0" dirty="0">
              <a:solidFill>
                <a:srgbClr val="373A3C"/>
              </a:solidFill>
              <a:effectLst/>
              <a:latin typeface="arial" panose="020B0604020202020204" pitchFamily="34" charset="0"/>
            </a:endParaRPr>
          </a:p>
          <a:p>
            <a:endParaRPr lang="en-GB" dirty="0"/>
          </a:p>
        </p:txBody>
      </p:sp>
    </p:spTree>
    <p:extLst>
      <p:ext uri="{BB962C8B-B14F-4D97-AF65-F5344CB8AC3E}">
        <p14:creationId xmlns:p14="http://schemas.microsoft.com/office/powerpoint/2010/main" val="2542074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7B21B-8D4B-44CF-A056-2ACEBA04DD57}"/>
              </a:ext>
            </a:extLst>
          </p:cNvPr>
          <p:cNvSpPr>
            <a:spLocks noGrp="1"/>
          </p:cNvSpPr>
          <p:nvPr>
            <p:ph idx="1"/>
          </p:nvPr>
        </p:nvSpPr>
        <p:spPr>
          <a:xfrm>
            <a:off x="628650" y="1189973"/>
            <a:ext cx="8343900" cy="5668027"/>
          </a:xfrm>
        </p:spPr>
        <p:txBody>
          <a:bodyPr>
            <a:normAutofit fontScale="85000" lnSpcReduction="10000"/>
          </a:bodyPr>
          <a:lstStyle/>
          <a:p>
            <a:pPr algn="l" rtl="0">
              <a:spcBef>
                <a:spcPts val="1800"/>
              </a:spcBef>
              <a:spcAft>
                <a:spcPts val="600"/>
              </a:spcAft>
            </a:pPr>
            <a:r>
              <a:rPr lang="en-GB" sz="1800" b="1" i="0" dirty="0">
                <a:solidFill>
                  <a:srgbClr val="000000"/>
                </a:solidFill>
                <a:effectLst/>
              </a:rPr>
              <a:t>Security Assessment </a:t>
            </a:r>
            <a:endParaRPr lang="en-GB" b="1" i="0" dirty="0">
              <a:solidFill>
                <a:srgbClr val="373A3C"/>
              </a:solidFill>
              <a:effectLst/>
              <a:latin typeface="arial" panose="020B0604020202020204" pitchFamily="34" charset="0"/>
            </a:endParaRPr>
          </a:p>
          <a:p>
            <a:pPr algn="l" rtl="0">
              <a:spcBef>
                <a:spcPts val="0"/>
              </a:spcBef>
              <a:spcAft>
                <a:spcPts val="0"/>
              </a:spcAft>
            </a:pPr>
            <a:r>
              <a:rPr lang="en-GB" sz="1800" b="0" i="0" dirty="0">
                <a:solidFill>
                  <a:srgbClr val="000000"/>
                </a:solidFill>
                <a:effectLst/>
                <a:latin typeface="Arial" panose="020B0604020202020204" pitchFamily="34" charset="0"/>
              </a:rPr>
              <a:t>The security assessment of </a:t>
            </a:r>
            <a:r>
              <a:rPr lang="en-GB" sz="1800" b="0" i="0" dirty="0" err="1">
                <a:solidFill>
                  <a:srgbClr val="000000"/>
                </a:solidFill>
                <a:effectLst/>
                <a:latin typeface="Arial" panose="020B0604020202020204" pitchFamily="34" charset="0"/>
              </a:rPr>
              <a:t>Trucrypt</a:t>
            </a:r>
            <a:r>
              <a:rPr lang="en-GB" sz="1800" b="0" i="0" dirty="0">
                <a:solidFill>
                  <a:srgbClr val="000000"/>
                </a:solidFill>
                <a:effectLst/>
                <a:latin typeface="Arial" panose="020B0604020202020204" pitchFamily="34" charset="0"/>
              </a:rPr>
              <a:t> undoubtedly proves that several unfixed security issues exist, and they are thoroughly outlined in the report. Below you will find a collection of significant problems that were discovered. </a:t>
            </a:r>
            <a:endParaRPr lang="en-GB" b="0" i="0" dirty="0">
              <a:solidFill>
                <a:srgbClr val="373A3C"/>
              </a:solidFill>
              <a:effectLst/>
              <a:latin typeface="arial" panose="020B0604020202020204" pitchFamily="34" charset="0"/>
            </a:endParaRPr>
          </a:p>
          <a:p>
            <a:pPr algn="l" rtl="0">
              <a:spcBef>
                <a:spcPts val="1600"/>
              </a:spcBef>
              <a:spcAft>
                <a:spcPts val="400"/>
              </a:spcAft>
            </a:pPr>
            <a:r>
              <a:rPr lang="en-GB" sz="1800" b="1" i="0" dirty="0">
                <a:solidFill>
                  <a:srgbClr val="434343"/>
                </a:solidFill>
                <a:effectLst/>
              </a:rPr>
              <a:t>Code Quality</a:t>
            </a:r>
            <a:endParaRPr lang="en-GB" b="1" i="0" dirty="0">
              <a:solidFill>
                <a:srgbClr val="373A3C"/>
              </a:solidFill>
              <a:effectLst/>
              <a:latin typeface="arial" panose="020B0604020202020204" pitchFamily="34" charset="0"/>
            </a:endParaRPr>
          </a:p>
          <a:p>
            <a:pPr algn="l" rtl="0">
              <a:spcBef>
                <a:spcPts val="0"/>
              </a:spcBef>
              <a:spcAft>
                <a:spcPts val="0"/>
              </a:spcAft>
            </a:pPr>
            <a:r>
              <a:rPr lang="en-GB" sz="1800" b="0" i="0" dirty="0">
                <a:solidFill>
                  <a:srgbClr val="000000"/>
                </a:solidFill>
                <a:effectLst/>
                <a:latin typeface="Arial" panose="020B0604020202020204" pitchFamily="34" charset="0"/>
              </a:rPr>
              <a:t>The report notes numerous code quality issues; these do not introduce any notable security vulnerabilities; however, with TrueCrypt being an open-source project, you run the risk of new project members introducing security vulnerabilities due to their lack of understanding practices used within the codebase.</a:t>
            </a:r>
            <a:endParaRPr lang="en-GB" b="0" i="0" dirty="0">
              <a:solidFill>
                <a:srgbClr val="373A3C"/>
              </a:solidFill>
              <a:effectLst/>
              <a:latin typeface="arial" panose="020B0604020202020204" pitchFamily="34" charset="0"/>
            </a:endParaRPr>
          </a:p>
          <a:p>
            <a:pPr algn="l" rtl="0">
              <a:spcBef>
                <a:spcPts val="1400"/>
              </a:spcBef>
              <a:spcAft>
                <a:spcPts val="400"/>
              </a:spcAft>
            </a:pPr>
            <a:r>
              <a:rPr lang="en-GB" sz="1800" b="1" i="0" dirty="0">
                <a:solidFill>
                  <a:srgbClr val="666666"/>
                </a:solidFill>
                <a:effectLst/>
              </a:rPr>
              <a:t>Unsigned Integers</a:t>
            </a:r>
            <a:endParaRPr lang="en-GB" b="1" i="0" dirty="0">
              <a:solidFill>
                <a:srgbClr val="373A3C"/>
              </a:solidFill>
              <a:effectLst/>
              <a:latin typeface="arial" panose="020B0604020202020204" pitchFamily="34" charset="0"/>
            </a:endParaRPr>
          </a:p>
          <a:p>
            <a:pPr algn="l" rtl="0">
              <a:spcBef>
                <a:spcPts val="0"/>
              </a:spcBef>
              <a:spcAft>
                <a:spcPts val="0"/>
              </a:spcAft>
            </a:pPr>
            <a:r>
              <a:rPr lang="en-GB" sz="1800" b="0" i="0" dirty="0">
                <a:solidFill>
                  <a:srgbClr val="000000"/>
                </a:solidFill>
                <a:effectLst/>
                <a:latin typeface="Arial" panose="020B0604020202020204" pitchFamily="34" charset="0"/>
              </a:rPr>
              <a:t>One of the significant code quality issues is mixing signed and unsigned integers. When programming in C++, it is recommended to use signed integers whenever possible, as unsigned integers often lead to overflow due to the integer accepting values outside the allotted memory range (</a:t>
            </a:r>
            <a:r>
              <a:rPr lang="en-GB" sz="1800" b="0" i="0" dirty="0" err="1">
                <a:solidFill>
                  <a:srgbClr val="000000"/>
                </a:solidFill>
                <a:effectLst/>
                <a:latin typeface="Arial" panose="020B0604020202020204" pitchFamily="34" charset="0"/>
              </a:rPr>
              <a:t>LearnC</a:t>
            </a:r>
            <a:r>
              <a:rPr lang="en-GB" sz="1800" b="0" i="0" dirty="0">
                <a:solidFill>
                  <a:srgbClr val="000000"/>
                </a:solidFill>
                <a:effectLst/>
                <a:latin typeface="Arial" panose="020B0604020202020204" pitchFamily="34" charset="0"/>
              </a:rPr>
              <a:t>++).</a:t>
            </a:r>
            <a:endParaRPr lang="en-GB" b="0" i="0" dirty="0">
              <a:solidFill>
                <a:srgbClr val="373A3C"/>
              </a:solidFill>
              <a:effectLst/>
              <a:latin typeface="arial" panose="020B0604020202020204" pitchFamily="34" charset="0"/>
            </a:endParaRPr>
          </a:p>
          <a:p>
            <a:pPr algn="l" rtl="0">
              <a:spcBef>
                <a:spcPts val="1600"/>
              </a:spcBef>
              <a:spcAft>
                <a:spcPts val="400"/>
              </a:spcAft>
            </a:pPr>
            <a:r>
              <a:rPr lang="en-GB" sz="1800" b="1" i="0" dirty="0">
                <a:solidFill>
                  <a:srgbClr val="434343"/>
                </a:solidFill>
                <a:effectLst/>
              </a:rPr>
              <a:t>Vulnerabilities</a:t>
            </a:r>
            <a:endParaRPr lang="en-GB" b="1" i="0" dirty="0">
              <a:solidFill>
                <a:srgbClr val="373A3C"/>
              </a:solidFill>
              <a:effectLst/>
              <a:latin typeface="arial" panose="020B0604020202020204" pitchFamily="34" charset="0"/>
            </a:endParaRPr>
          </a:p>
          <a:p>
            <a:pPr algn="l" rtl="0">
              <a:spcBef>
                <a:spcPts val="0"/>
              </a:spcBef>
              <a:spcAft>
                <a:spcPts val="0"/>
              </a:spcAft>
            </a:pPr>
            <a:r>
              <a:rPr lang="en-GB" sz="1800" b="0" i="0" dirty="0">
                <a:solidFill>
                  <a:srgbClr val="000000"/>
                </a:solidFill>
                <a:effectLst/>
                <a:latin typeface="Arial" panose="020B0604020202020204" pitchFamily="34" charset="0"/>
              </a:rPr>
              <a:t>One concerning vulnerability is the “Weak Volume Header key derivation algorithm”(</a:t>
            </a:r>
            <a:r>
              <a:rPr lang="en-GB" sz="1800" b="0" i="0" dirty="0" err="1">
                <a:solidFill>
                  <a:srgbClr val="000000"/>
                </a:solidFill>
                <a:effectLst/>
                <a:latin typeface="Arial" panose="020B0604020202020204" pitchFamily="34" charset="0"/>
              </a:rPr>
              <a:t>Junestam</a:t>
            </a:r>
            <a:r>
              <a:rPr lang="en-GB" sz="1800" b="0" i="0" dirty="0">
                <a:solidFill>
                  <a:srgbClr val="000000"/>
                </a:solidFill>
                <a:effectLst/>
                <a:latin typeface="Arial" panose="020B0604020202020204" pitchFamily="34" charset="0"/>
              </a:rPr>
              <a:t> and </a:t>
            </a:r>
            <a:r>
              <a:rPr lang="en-GB" sz="1800" b="0" i="0" dirty="0" err="1">
                <a:solidFill>
                  <a:srgbClr val="000000"/>
                </a:solidFill>
                <a:effectLst/>
                <a:latin typeface="Arial" panose="020B0604020202020204" pitchFamily="34" charset="0"/>
              </a:rPr>
              <a:t>Giugo</a:t>
            </a:r>
            <a:r>
              <a:rPr lang="en-GB" sz="1800" b="0" i="0" dirty="0">
                <a:solidFill>
                  <a:srgbClr val="000000"/>
                </a:solidFill>
                <a:effectLst/>
                <a:latin typeface="Arial" panose="020B0604020202020204" pitchFamily="34" charset="0"/>
              </a:rPr>
              <a:t>, 2014). Within the TrueCrypt codebase, it was discovered that the algorithm used to encrypt the volume did not apply sufficient computational complexity resulting in an encryption key that could be found using brute force techniques.</a:t>
            </a:r>
            <a:endParaRPr lang="en-GB" b="0" i="0" dirty="0">
              <a:solidFill>
                <a:srgbClr val="373A3C"/>
              </a:solidFill>
              <a:effectLst/>
              <a:latin typeface="arial" panose="020B0604020202020204" pitchFamily="34" charset="0"/>
            </a:endParaRPr>
          </a:p>
          <a:p>
            <a:pPr algn="l" rtl="0">
              <a:spcBef>
                <a:spcPts val="1600"/>
              </a:spcBef>
              <a:spcAft>
                <a:spcPts val="400"/>
              </a:spcAft>
            </a:pPr>
            <a:r>
              <a:rPr lang="en-GB" sz="1800" b="1" i="0" dirty="0">
                <a:solidFill>
                  <a:srgbClr val="434343"/>
                </a:solidFill>
                <a:effectLst/>
              </a:rPr>
              <a:t>Suppression of compiler warnings</a:t>
            </a:r>
            <a:endParaRPr lang="en-GB" b="1" i="0" dirty="0">
              <a:solidFill>
                <a:srgbClr val="373A3C"/>
              </a:solidFill>
              <a:effectLst/>
              <a:latin typeface="arial" panose="020B0604020202020204" pitchFamily="34" charset="0"/>
            </a:endParaRPr>
          </a:p>
          <a:p>
            <a:pPr algn="l" rtl="0">
              <a:spcBef>
                <a:spcPts val="0"/>
              </a:spcBef>
              <a:spcAft>
                <a:spcPts val="0"/>
              </a:spcAft>
            </a:pPr>
            <a:r>
              <a:rPr lang="en-GB" sz="1800" b="0" i="0" dirty="0">
                <a:solidFill>
                  <a:srgbClr val="000000"/>
                </a:solidFill>
                <a:effectLst/>
                <a:latin typeface="Arial" panose="020B0604020202020204" pitchFamily="34" charset="0"/>
              </a:rPr>
              <a:t>It was also found that compiler warnings were being suppressed within the code rather than directly addressing them. Suppressing warnings could provide a false sense of security to users that may not understand the code and the existing vulnerabilities. </a:t>
            </a:r>
            <a:endParaRPr lang="en-GB" b="0" i="0" dirty="0">
              <a:solidFill>
                <a:srgbClr val="373A3C"/>
              </a:solidFill>
              <a:effectLst/>
              <a:latin typeface="arial" panose="020B0604020202020204" pitchFamily="34" charset="0"/>
            </a:endParaRPr>
          </a:p>
          <a:p>
            <a:endParaRPr lang="en-GB" dirty="0"/>
          </a:p>
        </p:txBody>
      </p:sp>
    </p:spTree>
    <p:extLst>
      <p:ext uri="{BB962C8B-B14F-4D97-AF65-F5344CB8AC3E}">
        <p14:creationId xmlns:p14="http://schemas.microsoft.com/office/powerpoint/2010/main" val="273761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7E7203-A43F-4740-AC60-73D6B59005C0}"/>
              </a:ext>
            </a:extLst>
          </p:cNvPr>
          <p:cNvSpPr>
            <a:spLocks noGrp="1"/>
          </p:cNvSpPr>
          <p:nvPr>
            <p:ph idx="1"/>
          </p:nvPr>
        </p:nvSpPr>
        <p:spPr/>
        <p:txBody>
          <a:bodyPr/>
          <a:lstStyle/>
          <a:p>
            <a:pPr algn="l" rtl="0">
              <a:spcBef>
                <a:spcPts val="1800"/>
              </a:spcBef>
              <a:spcAft>
                <a:spcPts val="600"/>
              </a:spcAft>
            </a:pPr>
            <a:r>
              <a:rPr lang="en-GB" sz="1800" b="1" i="0" dirty="0">
                <a:solidFill>
                  <a:srgbClr val="000000"/>
                </a:solidFill>
                <a:effectLst/>
                <a:latin typeface="Arial" panose="020B0604020202020204" pitchFamily="34" charset="0"/>
              </a:rPr>
              <a:t>Would I recommend TrueCrypt to a Friend?</a:t>
            </a:r>
            <a:endParaRPr lang="en-GB" b="1" i="0" dirty="0">
              <a:solidFill>
                <a:srgbClr val="373A3C"/>
              </a:solidFill>
              <a:effectLst/>
              <a:latin typeface="arial" panose="020B0604020202020204" pitchFamily="34" charset="0"/>
            </a:endParaRPr>
          </a:p>
          <a:p>
            <a:pPr algn="l" rtl="0">
              <a:spcBef>
                <a:spcPts val="0"/>
              </a:spcBef>
              <a:spcAft>
                <a:spcPts val="0"/>
              </a:spcAft>
            </a:pPr>
            <a:r>
              <a:rPr lang="en-GB" sz="1800" b="0" i="0" dirty="0">
                <a:solidFill>
                  <a:srgbClr val="000000"/>
                </a:solidFill>
                <a:effectLst/>
                <a:latin typeface="Arial" panose="020B0604020202020204" pitchFamily="34" charset="0"/>
              </a:rPr>
              <a:t>Considering TrueCrypt has reached end of life, I would not recommend the application to anyone who cares about securely protecting their files. As mentioned before, there are numerous security vulnerabilities, and the tool has subsequently been replaced by projects such as VeraCrypt (VeraCrypt, 2021).</a:t>
            </a:r>
            <a:endParaRPr lang="en-GB" b="0" i="0" dirty="0">
              <a:solidFill>
                <a:srgbClr val="373A3C"/>
              </a:solidFill>
              <a:effectLst/>
              <a:latin typeface="arial" panose="020B0604020202020204" pitchFamily="34" charset="0"/>
            </a:endParaRPr>
          </a:p>
          <a:p>
            <a:endParaRPr lang="en-GB" dirty="0"/>
          </a:p>
        </p:txBody>
      </p:sp>
    </p:spTree>
    <p:extLst>
      <p:ext uri="{BB962C8B-B14F-4D97-AF65-F5344CB8AC3E}">
        <p14:creationId xmlns:p14="http://schemas.microsoft.com/office/powerpoint/2010/main" val="206210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F8CF17-7118-4D0C-B629-AF02F5DE9542}"/>
              </a:ext>
            </a:extLst>
          </p:cNvPr>
          <p:cNvSpPr>
            <a:spLocks noGrp="1"/>
          </p:cNvSpPr>
          <p:nvPr>
            <p:ph idx="1"/>
          </p:nvPr>
        </p:nvSpPr>
        <p:spPr>
          <a:xfrm>
            <a:off x="628650" y="1189973"/>
            <a:ext cx="7886700" cy="5668027"/>
          </a:xfrm>
        </p:spPr>
        <p:txBody>
          <a:bodyPr>
            <a:normAutofit fontScale="85000" lnSpcReduction="20000"/>
          </a:bodyPr>
          <a:lstStyle/>
          <a:p>
            <a:pPr algn="l"/>
            <a:r>
              <a:rPr lang="en-GB" b="0" i="0" dirty="0">
                <a:solidFill>
                  <a:srgbClr val="373A3C"/>
                </a:solidFill>
                <a:effectLst/>
                <a:latin typeface="arial" panose="020B0604020202020204" pitchFamily="34" charset="0"/>
              </a:rPr>
              <a:t>Peer Review</a:t>
            </a:r>
            <a:r>
              <a:rPr lang="en-GB" sz="1800" b="0" i="0" dirty="0">
                <a:solidFill>
                  <a:srgbClr val="373A3C"/>
                </a:solidFill>
                <a:effectLst/>
                <a:latin typeface="Arial" panose="020B0604020202020204" pitchFamily="34" charset="0"/>
              </a:rPr>
              <a:t> thank you for your nice initial post. I can say that I agree with your position not to recommend the tool to a friend.</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Lack of Code quality is a serious issue when it comes to system development. This without any consideration to security problems.</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Raises many questions about the supplier's test set. There is a reasonable concern that there may also be many problems that were not manifested during the audit. Audit by its nature is limited in time and ability to discover any problematic issue. It says in the audit report that the work was performed by "Two engineers" (</a:t>
            </a:r>
            <a:r>
              <a:rPr lang="en-GB" sz="1800" b="0" i="0" dirty="0" err="1">
                <a:solidFill>
                  <a:srgbClr val="373A3C"/>
                </a:solidFill>
                <a:effectLst/>
                <a:latin typeface="Arial" panose="020B0604020202020204" pitchFamily="34" charset="0"/>
              </a:rPr>
              <a:t>Junestam</a:t>
            </a:r>
            <a:r>
              <a:rPr lang="en-GB" sz="1800" b="0" i="0" dirty="0">
                <a:solidFill>
                  <a:srgbClr val="373A3C"/>
                </a:solidFill>
                <a:effectLst/>
                <a:latin typeface="Arial" panose="020B0604020202020204" pitchFamily="34" charset="0"/>
              </a:rPr>
              <a:t>, A. and </a:t>
            </a:r>
            <a:r>
              <a:rPr lang="en-GB" sz="1800" b="0" i="0" dirty="0" err="1">
                <a:solidFill>
                  <a:srgbClr val="373A3C"/>
                </a:solidFill>
                <a:effectLst/>
                <a:latin typeface="Arial" panose="020B0604020202020204" pitchFamily="34" charset="0"/>
              </a:rPr>
              <a:t>Giugo</a:t>
            </a:r>
            <a:r>
              <a:rPr lang="en-GB" sz="1800" b="0" i="0" dirty="0">
                <a:solidFill>
                  <a:srgbClr val="373A3C"/>
                </a:solidFill>
                <a:effectLst/>
                <a:latin typeface="Arial" panose="020B0604020202020204" pitchFamily="34" charset="0"/>
              </a:rPr>
              <a:t>, N.,2014). The scope of the audit is not well defined. "They say that this review used a combination of proprietary and public automated tools, manual test techniques, and source code review to audit the application.".</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Important subjects were left outside the scope of the audit for example " Algorithm implementation".</a:t>
            </a:r>
            <a:endParaRPr lang="en-GB" b="0" i="0" dirty="0">
              <a:solidFill>
                <a:srgbClr val="373A3C"/>
              </a:solidFill>
              <a:effectLst/>
              <a:latin typeface="arial" panose="020B0604020202020204" pitchFamily="34" charset="0"/>
            </a:endParaRPr>
          </a:p>
          <a:p>
            <a:pPr algn="l"/>
            <a:r>
              <a:rPr lang="en-GB" sz="1800" b="0" i="0" dirty="0">
                <a:solidFill>
                  <a:srgbClr val="373A3C"/>
                </a:solidFill>
                <a:effectLst/>
                <a:latin typeface="Arial" panose="020B0604020202020204" pitchFamily="34" charset="0"/>
              </a:rPr>
              <a:t>Audit of information system is a serious profession. (Patricia George &amp; Dennis </a:t>
            </a:r>
            <a:r>
              <a:rPr lang="en-GB" sz="1800" b="0" i="0" dirty="0" err="1">
                <a:solidFill>
                  <a:srgbClr val="373A3C"/>
                </a:solidFill>
                <a:effectLst/>
                <a:latin typeface="Arial" panose="020B0604020202020204" pitchFamily="34" charset="0"/>
              </a:rPr>
              <a:t>Ravenelle</a:t>
            </a:r>
            <a:r>
              <a:rPr lang="en-GB" sz="1800" b="0" i="0" dirty="0">
                <a:solidFill>
                  <a:srgbClr val="373A3C"/>
                </a:solidFill>
                <a:effectLst/>
                <a:latin typeface="Arial" panose="020B0604020202020204" pitchFamily="34" charset="0"/>
              </a:rPr>
              <a:t>, Harvard University) "the examination and evaluation of an organization's information technology </a:t>
            </a:r>
            <a:r>
              <a:rPr lang="en-GB" sz="1800" b="1" i="0" u="sng" dirty="0">
                <a:solidFill>
                  <a:srgbClr val="373A3C"/>
                </a:solidFill>
                <a:effectLst/>
                <a:latin typeface="Arial" panose="020B0604020202020204" pitchFamily="34" charset="0"/>
                <a:hlinkClick r:id="rId3"/>
              </a:rPr>
              <a:t>infrastructure</a:t>
            </a:r>
            <a:r>
              <a:rPr lang="en-GB" sz="1800" b="0" i="0" dirty="0">
                <a:solidFill>
                  <a:srgbClr val="373A3C"/>
                </a:solidFill>
                <a:effectLst/>
                <a:latin typeface="Arial" panose="020B0604020202020204" pitchFamily="34" charset="0"/>
              </a:rPr>
              <a:t>, applications, data use and management, policies, procedures and operational processes against recognized standards or established policies." In our case it is not clear against which standards the tool had been evaluated. Despite the shortcomings of the methodology in the audit performed, it is still possible to obtain opinions from two engineers who have an opinion on the work of programmers. As you (</a:t>
            </a:r>
            <a:r>
              <a:rPr lang="en-GB" sz="1800" b="0" i="0" dirty="0" err="1">
                <a:solidFill>
                  <a:srgbClr val="373A3C"/>
                </a:solidFill>
                <a:effectLst/>
                <a:latin typeface="Arial" panose="020B0604020202020204" pitchFamily="34" charset="0"/>
              </a:rPr>
              <a:t>Anrich</a:t>
            </a:r>
            <a:r>
              <a:rPr lang="en-GB" sz="1800" b="0" i="0" dirty="0">
                <a:solidFill>
                  <a:srgbClr val="373A3C"/>
                </a:solidFill>
                <a:effectLst/>
                <a:latin typeface="Arial" panose="020B0604020202020204" pitchFamily="34" charset="0"/>
              </a:rPr>
              <a:t>) mentioned, the product ends its life and was replaced.  The best five top tool to secure your data are: VeraCrypt , </a:t>
            </a:r>
            <a:r>
              <a:rPr lang="en-GB" sz="1800" b="0" i="0" dirty="0" err="1">
                <a:solidFill>
                  <a:srgbClr val="373A3C"/>
                </a:solidFill>
                <a:effectLst/>
                <a:latin typeface="Arial" panose="020B0604020202020204" pitchFamily="34" charset="0"/>
              </a:rPr>
              <a:t>Bitlocker</a:t>
            </a:r>
            <a:r>
              <a:rPr lang="en-GB" b="0" i="0" dirty="0">
                <a:solidFill>
                  <a:srgbClr val="373A3C"/>
                </a:solidFill>
                <a:effectLst/>
                <a:latin typeface="arial" panose="020B0604020202020204" pitchFamily="34" charset="0"/>
              </a:rPr>
              <a:t>, </a:t>
            </a:r>
            <a:r>
              <a:rPr lang="en-GB" b="0" i="0" dirty="0" err="1">
                <a:solidFill>
                  <a:srgbClr val="373A3C"/>
                </a:solidFill>
                <a:effectLst/>
                <a:latin typeface="arial" panose="020B0604020202020204" pitchFamily="34" charset="0"/>
              </a:rPr>
              <a:t>CipherShed</a:t>
            </a:r>
            <a:r>
              <a:rPr lang="en-GB" b="0" i="0" dirty="0">
                <a:solidFill>
                  <a:srgbClr val="373A3C"/>
                </a:solidFill>
                <a:effectLst/>
                <a:latin typeface="arial" panose="020B0604020202020204" pitchFamily="34" charset="0"/>
              </a:rPr>
              <a:t>,  </a:t>
            </a:r>
            <a:r>
              <a:rPr lang="en-GB" b="0" i="0" dirty="0" err="1">
                <a:solidFill>
                  <a:srgbClr val="373A3C"/>
                </a:solidFill>
                <a:effectLst/>
                <a:latin typeface="arial" panose="020B0604020202020204" pitchFamily="34" charset="0"/>
              </a:rPr>
              <a:t>FileVault</a:t>
            </a:r>
            <a:r>
              <a:rPr lang="en-GB" b="0" i="0" dirty="0">
                <a:solidFill>
                  <a:srgbClr val="373A3C"/>
                </a:solidFill>
                <a:effectLst/>
                <a:latin typeface="arial" panose="020B0604020202020204" pitchFamily="34" charset="0"/>
              </a:rPr>
              <a:t> 2, LUKS (</a:t>
            </a:r>
            <a:r>
              <a:rPr lang="en-GB" b="1" i="0" u="sng" dirty="0">
                <a:solidFill>
                  <a:srgbClr val="373A3C"/>
                </a:solidFill>
                <a:effectLst/>
                <a:latin typeface="Calibri" panose="020F0502020204030204" pitchFamily="34" charset="0"/>
                <a:hlinkClick r:id="rId4"/>
              </a:rPr>
              <a:t>PAUL BISCHOFF</a:t>
            </a:r>
            <a:r>
              <a:rPr lang="en-GB" b="0" i="0" dirty="0">
                <a:solidFill>
                  <a:srgbClr val="373A3C"/>
                </a:solidFill>
                <a:effectLst/>
                <a:latin typeface="arial" panose="020B0604020202020204" pitchFamily="34" charset="0"/>
              </a:rPr>
              <a:t>,2020). In this article the writer suggests not to use TrueCrypt "we recommend trying a newer alternative". It looks like a very reasonable recommendation.</a:t>
            </a:r>
          </a:p>
          <a:p>
            <a:endParaRPr lang="en-GB" dirty="0"/>
          </a:p>
        </p:txBody>
      </p:sp>
    </p:spTree>
    <p:extLst>
      <p:ext uri="{BB962C8B-B14F-4D97-AF65-F5344CB8AC3E}">
        <p14:creationId xmlns:p14="http://schemas.microsoft.com/office/powerpoint/2010/main" val="1566073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A67C7C-7EAF-57DC-FD15-BFAB7230DDDD}"/>
              </a:ext>
            </a:extLst>
          </p:cNvPr>
          <p:cNvPicPr>
            <a:picLocks noChangeAspect="1"/>
          </p:cNvPicPr>
          <p:nvPr/>
        </p:nvPicPr>
        <p:blipFill>
          <a:blip r:embed="rId2"/>
          <a:stretch>
            <a:fillRect/>
          </a:stretch>
        </p:blipFill>
        <p:spPr>
          <a:xfrm>
            <a:off x="217170" y="1371421"/>
            <a:ext cx="8709660" cy="4115157"/>
          </a:xfrm>
          <a:prstGeom prst="rect">
            <a:avLst/>
          </a:prstGeom>
        </p:spPr>
      </p:pic>
    </p:spTree>
    <p:extLst>
      <p:ext uri="{BB962C8B-B14F-4D97-AF65-F5344CB8AC3E}">
        <p14:creationId xmlns:p14="http://schemas.microsoft.com/office/powerpoint/2010/main" val="3527756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F5838D-D06C-1767-0C94-D337FABB0970}"/>
              </a:ext>
            </a:extLst>
          </p:cNvPr>
          <p:cNvPicPr>
            <a:picLocks noChangeAspect="1"/>
          </p:cNvPicPr>
          <p:nvPr/>
        </p:nvPicPr>
        <p:blipFill>
          <a:blip r:embed="rId2"/>
          <a:stretch>
            <a:fillRect/>
          </a:stretch>
        </p:blipFill>
        <p:spPr>
          <a:xfrm>
            <a:off x="68189" y="2011557"/>
            <a:ext cx="9007621" cy="2834886"/>
          </a:xfrm>
          <a:prstGeom prst="rect">
            <a:avLst/>
          </a:prstGeom>
        </p:spPr>
      </p:pic>
    </p:spTree>
    <p:extLst>
      <p:ext uri="{BB962C8B-B14F-4D97-AF65-F5344CB8AC3E}">
        <p14:creationId xmlns:p14="http://schemas.microsoft.com/office/powerpoint/2010/main" val="12043964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638D96-A25A-4066-BB58-D8300D0BD79E}"/>
              </a:ext>
            </a:extLst>
          </p:cNvPr>
          <p:cNvPicPr>
            <a:picLocks noChangeAspect="1"/>
          </p:cNvPicPr>
          <p:nvPr/>
        </p:nvPicPr>
        <p:blipFill>
          <a:blip r:embed="rId2"/>
          <a:stretch>
            <a:fillRect/>
          </a:stretch>
        </p:blipFill>
        <p:spPr>
          <a:xfrm>
            <a:off x="91440" y="1656622"/>
            <a:ext cx="8892540" cy="44921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10486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9FAF74-2D35-4075-8351-87829DA634C6}"/>
              </a:ext>
            </a:extLst>
          </p:cNvPr>
          <p:cNvPicPr>
            <a:picLocks noChangeAspect="1"/>
          </p:cNvPicPr>
          <p:nvPr/>
        </p:nvPicPr>
        <p:blipFill>
          <a:blip r:embed="rId2"/>
          <a:stretch>
            <a:fillRect/>
          </a:stretch>
        </p:blipFill>
        <p:spPr>
          <a:xfrm>
            <a:off x="160020" y="1342885"/>
            <a:ext cx="8823960" cy="48351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92224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6EAF28-BD93-4CFC-B934-47FA53F70DDD}"/>
              </a:ext>
            </a:extLst>
          </p:cNvPr>
          <p:cNvPicPr>
            <a:picLocks noChangeAspect="1"/>
          </p:cNvPicPr>
          <p:nvPr/>
        </p:nvPicPr>
        <p:blipFill>
          <a:blip r:embed="rId2"/>
          <a:stretch>
            <a:fillRect/>
          </a:stretch>
        </p:blipFill>
        <p:spPr>
          <a:xfrm>
            <a:off x="125730" y="1663749"/>
            <a:ext cx="8869680" cy="35305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37052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3D6DD-C6A8-0973-806E-B0A45FD3548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B2A07B2-E362-B95A-C73B-6040A00BF8A8}"/>
              </a:ext>
            </a:extLst>
          </p:cNvPr>
          <p:cNvPicPr>
            <a:picLocks noChangeAspect="1"/>
          </p:cNvPicPr>
          <p:nvPr/>
        </p:nvPicPr>
        <p:blipFill>
          <a:blip r:embed="rId3"/>
          <a:stretch>
            <a:fillRect/>
          </a:stretch>
        </p:blipFill>
        <p:spPr>
          <a:xfrm>
            <a:off x="0" y="1140716"/>
            <a:ext cx="6160770" cy="4791454"/>
          </a:xfrm>
          <a:prstGeom prst="rect">
            <a:avLst/>
          </a:prstGeom>
          <a:ln>
            <a:noFill/>
          </a:ln>
          <a:effectLst>
            <a:softEdge rad="112500"/>
          </a:effectLst>
        </p:spPr>
      </p:pic>
      <p:sp>
        <p:nvSpPr>
          <p:cNvPr id="3" name="Title 2">
            <a:extLst>
              <a:ext uri="{FF2B5EF4-FFF2-40B4-BE49-F238E27FC236}">
                <a16:creationId xmlns:a16="http://schemas.microsoft.com/office/drawing/2014/main" id="{42E7B6F0-65FA-276F-E6BC-D76BC24E0251}"/>
              </a:ext>
            </a:extLst>
          </p:cNvPr>
          <p:cNvSpPr>
            <a:spLocks noGrp="1"/>
          </p:cNvSpPr>
          <p:nvPr>
            <p:ph type="title"/>
          </p:nvPr>
        </p:nvSpPr>
        <p:spPr>
          <a:xfrm>
            <a:off x="5391444" y="457201"/>
            <a:ext cx="3752556" cy="6391842"/>
          </a:xfrm>
        </p:spPr>
        <p:txBody>
          <a:bodyPr vert="horz" lIns="91440" tIns="45720" rIns="91440" bIns="45720" rtlCol="0" anchor="ctr">
            <a:normAutofit/>
          </a:bodyPr>
          <a:lstStyle/>
          <a:p>
            <a:pPr algn="ctr"/>
            <a:r>
              <a:rPr lang="en-US" sz="3600" dirty="0">
                <a:solidFill>
                  <a:srgbClr val="C00000"/>
                </a:solidFill>
                <a:effectLst>
                  <a:outerShdw blurRad="38100" dist="38100" dir="2700000" algn="tl">
                    <a:srgbClr val="000000">
                      <a:alpha val="43137"/>
                    </a:srgbClr>
                  </a:outerShdw>
                </a:effectLst>
                <a:latin typeface="+mj-lt"/>
                <a:cs typeface="+mj-cs"/>
              </a:rPr>
              <a:t>Secure Software Development</a:t>
            </a: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MSc Computer Science</a:t>
            </a: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Dr Zahid Ullah</a:t>
            </a: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zahid.ullah@kaplan.com</a:t>
            </a: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This seminar is being recorded</a:t>
            </a:r>
            <a:br>
              <a:rPr lang="en-US" sz="2400" dirty="0">
                <a:solidFill>
                  <a:srgbClr val="C00000"/>
                </a:solidFill>
                <a:latin typeface="+mj-lt"/>
                <a:cs typeface="+mj-cs"/>
              </a:rPr>
            </a:br>
            <a:br>
              <a:rPr lang="en-US" sz="2400" dirty="0">
                <a:solidFill>
                  <a:srgbClr val="C00000"/>
                </a:solidFill>
                <a:latin typeface="+mj-lt"/>
                <a:cs typeface="+mj-cs"/>
              </a:rPr>
            </a:br>
            <a:br>
              <a:rPr lang="en-US" sz="2400" dirty="0">
                <a:solidFill>
                  <a:srgbClr val="C00000"/>
                </a:solidFill>
                <a:latin typeface="+mj-lt"/>
                <a:cs typeface="+mj-cs"/>
              </a:rPr>
            </a:br>
            <a:r>
              <a:rPr lang="en-US" sz="2400" dirty="0">
                <a:solidFill>
                  <a:srgbClr val="C00000"/>
                </a:solidFill>
                <a:latin typeface="+mj-lt"/>
                <a:cs typeface="+mj-cs"/>
              </a:rPr>
              <a:t>Seminar 5</a:t>
            </a:r>
            <a:br>
              <a:rPr lang="en-US" sz="2400" dirty="0">
                <a:solidFill>
                  <a:srgbClr val="C00000"/>
                </a:solidFill>
                <a:latin typeface="+mj-lt"/>
                <a:cs typeface="+mj-cs"/>
              </a:rPr>
            </a:br>
            <a:endParaRPr lang="en-US" sz="2400" dirty="0">
              <a:solidFill>
                <a:srgbClr val="C00000"/>
              </a:solidFill>
              <a:latin typeface="+mj-lt"/>
              <a:cs typeface="+mj-cs"/>
            </a:endParaRPr>
          </a:p>
        </p:txBody>
      </p:sp>
    </p:spTree>
    <p:extLst>
      <p:ext uri="{BB962C8B-B14F-4D97-AF65-F5344CB8AC3E}">
        <p14:creationId xmlns:p14="http://schemas.microsoft.com/office/powerpoint/2010/main" val="64311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w="63500">
          <a:gradFill>
            <a:gsLst>
              <a:gs pos="0">
                <a:srgbClr val="4D1451">
                  <a:lumMod val="90000"/>
                  <a:lumOff val="10000"/>
                </a:srgbClr>
              </a:gs>
              <a:gs pos="98000">
                <a:srgbClr val="DB342A"/>
              </a:gs>
            </a:gsLst>
            <a:lin ang="6000000" scaled="0"/>
          </a:gradFill>
          <a:miter lim="800000"/>
        </a:ln>
      </a:spPr>
      <a:bodyPr wrap="square" rtlCol="0">
        <a:spAutoFit/>
      </a:bodyPr>
      <a:lstStyle>
        <a:defPPr marL="0" indent="0" algn="l">
          <a:buNone/>
          <a:defRPr sz="2800" cap="none" spc="0" dirty="0" smtClean="0">
            <a:ln>
              <a:noFill/>
            </a:ln>
            <a:solidFill>
              <a:schemeClr val="tx1"/>
            </a:solidFill>
            <a:effectLst/>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2CC8FA352E2849A9FD47BBFF2D1BA4" ma:contentTypeVersion="7" ma:contentTypeDescription="Create a new document." ma:contentTypeScope="" ma:versionID="351c2b6259864b81e0b698e493a1f5ab">
  <xsd:schema xmlns:xsd="http://www.w3.org/2001/XMLSchema" xmlns:xs="http://www.w3.org/2001/XMLSchema" xmlns:p="http://schemas.microsoft.com/office/2006/metadata/properties" xmlns:ns2="4f8a9c07-6fb1-4933-95cf-e7ea8c347c2b" xmlns:ns3="4e761da8-9904-41c4-abaf-432f876ad523" targetNamespace="http://schemas.microsoft.com/office/2006/metadata/properties" ma:root="true" ma:fieldsID="a24603ca9e1ff3d669f5749aa9aa6c25" ns2:_="" ns3:_="">
    <xsd:import namespace="4f8a9c07-6fb1-4933-95cf-e7ea8c347c2b"/>
    <xsd:import namespace="4e761da8-9904-41c4-abaf-432f876ad52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8a9c07-6fb1-4933-95cf-e7ea8c347c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761da8-9904-41c4-abaf-432f876ad52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732F2D-535B-489C-826D-1EBB17CFBC6F}">
  <ds:schemaRef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www.w3.org/XML/1998/namespace"/>
    <ds:schemaRef ds:uri="4e761da8-9904-41c4-abaf-432f876ad523"/>
    <ds:schemaRef ds:uri="4f8a9c07-6fb1-4933-95cf-e7ea8c347c2b"/>
    <ds:schemaRef ds:uri="http://purl.org/dc/elements/1.1/"/>
  </ds:schemaRefs>
</ds:datastoreItem>
</file>

<file path=customXml/itemProps2.xml><?xml version="1.0" encoding="utf-8"?>
<ds:datastoreItem xmlns:ds="http://schemas.openxmlformats.org/officeDocument/2006/customXml" ds:itemID="{D88E02C8-1982-49CB-8F92-1C9E368AC6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8a9c07-6fb1-4933-95cf-e7ea8c347c2b"/>
    <ds:schemaRef ds:uri="4e761da8-9904-41c4-abaf-432f876ad5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7D29E-431F-4655-8486-FF6A056428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15888</TotalTime>
  <Words>1798</Words>
  <Application>Microsoft Office PowerPoint</Application>
  <PresentationFormat>On-screen Show (4:3)</PresentationFormat>
  <Paragraphs>103</Paragraphs>
  <Slides>44</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Arial</vt:lpstr>
      <vt:lpstr>Calibri</vt:lpstr>
      <vt:lpstr>charter</vt:lpstr>
      <vt:lpstr>Helvetica Neue</vt:lpstr>
      <vt:lpstr>Ink Free</vt:lpstr>
      <vt:lpstr>Wingdings</vt:lpstr>
      <vt:lpstr>1_Custom Design</vt:lpstr>
      <vt:lpstr>Secure Software Development  MSc Computer Science    Dr Zahid Ullah  zahid.ullah@kaplan.com   This seminar is being recorded   Seminar 5 </vt:lpstr>
      <vt:lpstr>Unit 09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Unit 10</vt:lpstr>
      <vt:lpstr>Unit 10</vt:lpstr>
      <vt:lpstr>PowerPoint Presentation</vt:lpstr>
      <vt:lpstr>PowerPoint Presentation</vt:lpstr>
      <vt:lpstr>PowerPoint Presentation</vt:lpstr>
      <vt:lpstr>PowerPoint Presentation</vt:lpstr>
      <vt:lpstr>SOA</vt:lpstr>
      <vt:lpstr>PowerPoint Presentation</vt:lpstr>
      <vt:lpstr>PowerPoint Presentation</vt:lpstr>
      <vt:lpstr>Faceted Data</vt:lpstr>
      <vt:lpstr>PowerPoint Presentation</vt:lpstr>
      <vt:lpstr>PowerPoint Presentation</vt:lpstr>
      <vt:lpstr>PowerPoint Presentation</vt:lpstr>
      <vt:lpstr>PowerPoint Presentation</vt:lpstr>
      <vt:lpstr>PowerPoint Presentation</vt:lpstr>
      <vt:lpstr>PowerPoint Presentation</vt:lpstr>
      <vt:lpstr>Collaborative Discussion 2</vt:lpstr>
      <vt:lpstr>PowerPoint Presentation</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Secure Software Development  MSc Computer Science    Dr Zahid Ullah  zahid.ullah@kaplan.com   This seminar is being recorded   Seminar 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Brazier, Suzanne C</dc:creator>
  <cp:lastModifiedBy>zahid ullah</cp:lastModifiedBy>
  <cp:revision>199</cp:revision>
  <dcterms:created xsi:type="dcterms:W3CDTF">2019-05-01T15:27:08Z</dcterms:created>
  <dcterms:modified xsi:type="dcterms:W3CDTF">2026-03-30T19:24:57Z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0x010100F92CC8FA352E2849A9FD47BBFF2D1BA4</vt:lpwstr>
  </property>
</Properties>
</file>