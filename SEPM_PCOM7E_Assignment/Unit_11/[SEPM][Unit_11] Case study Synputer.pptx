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53EF6AF-5DB0-4CE3-82ED-1EB63EB6BCD4}">
  <a:tblStyle styleId="{353EF6AF-5DB0-4CE3-82ED-1EB63EB6BCD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3C05C66-7C0C-426D-8CD3-7F45C177582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"In this presentation, we’ll focus on the revised approach for delivering the Synputer project. Originally, we aimed for a portable, proprietary system, but several feasibility and commercial concerns led us to re-evaluate this direction. Given the strict constraints of a £500,000 budget and a fixed 13-month timeline, the original vision was not achievable."</a:t>
            </a:r>
            <a:endParaRPr/>
          </a:p>
          <a:p>
            <a:pPr indent="0" lvl="0" marL="381000" marR="381000" rtl="0" algn="l">
              <a:lnSpc>
                <a:spcPct val="115000"/>
              </a:lnSpc>
              <a:spcBef>
                <a:spcPts val="1200"/>
              </a:spcBef>
              <a:spcAft>
                <a:spcPts val="0"/>
              </a:spcAft>
              <a:buClr>
                <a:schemeClr val="dk1"/>
              </a:buClr>
              <a:buSzPts val="1100"/>
              <a:buFont typeface="Arial"/>
              <a:buNone/>
            </a:pPr>
            <a:r>
              <a:rPr lang="en"/>
              <a:t>"As a result, we pivoted to a desktop, business-grade solution. This change directly addresses the key concerns raised by our primary sponsor, EDC, and ensures the system is deliverable within both budget and schedule constraints."</a:t>
            </a:r>
            <a:endParaRPr/>
          </a:p>
          <a:p>
            <a:pPr indent="0" lvl="0" marL="381000" marR="381000" rtl="0" algn="l">
              <a:lnSpc>
                <a:spcPct val="115000"/>
              </a:lnSpc>
              <a:spcBef>
                <a:spcPts val="1200"/>
              </a:spcBef>
              <a:spcAft>
                <a:spcPts val="0"/>
              </a:spcAft>
              <a:buClr>
                <a:schemeClr val="dk1"/>
              </a:buClr>
              <a:buSzPts val="1100"/>
              <a:buFont typeface="Arial"/>
              <a:buNone/>
            </a:pPr>
            <a:r>
              <a:rPr lang="en"/>
              <a:t>"The purpose of this presentation is to show how we’ve revised the system to meet the core business requirements of EDC while remaining within the financial and timeline constraints. We’ll walk through the updated requirements, the key decisions made to mitigate risk, and the next steps that will ensure we remain on track for delivery."</a:t>
            </a:r>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62b149f8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62b149f8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“This slide outlines the </a:t>
            </a:r>
            <a:r>
              <a:rPr b="1" lang="en">
                <a:solidFill>
                  <a:schemeClr val="dk1"/>
                </a:solidFill>
              </a:rPr>
              <a:t>critical concerns</a:t>
            </a:r>
            <a:r>
              <a:rPr lang="en">
                <a:solidFill>
                  <a:schemeClr val="dk1"/>
                </a:solidFill>
              </a:rPr>
              <a:t> raised by EDC early in the project. These issues were not just about technical difficulties, but rather about the feasibility and commercial viability of the system.”</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“First, EDC’s main concern was the portability targets. The original design required a battery-powered system weighing under 2 kilograms with a 2-hour battery life. However, testing showed that the minimum viable hardware exceeded 3 kilograms and only provided 15–20 minutes of battery life, which made portability unfeasible.”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“Next, the project had significant technical risks due to reliance on proprietary OS and storage solutions. This introduced high technical risk, as the development of a custom OS and storage technology was highly speculative, concentrating multiple high-risk R&amp;D efforts within a very tight timeline.”</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“EDC was also concerned about business compatibility. The system had to work with existing business software, be stable, and offer predictable operational stability for enterprise environments. Ensuring seamless integration with legacy systems was critical.”</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“Finally, there were concerns about whether the system could be delivered on time within the 13-month window, as well as the risk of cost overruns due to the complexity of the original design.”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62b149f8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62b149f8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"To address the concerns raised by EDC, we had to make a significant strategic decision — to pivot the project from the original direction to a more feasible, risk-reduced approach."</a:t>
            </a:r>
            <a:endParaRPr/>
          </a:p>
          <a:p>
            <a:pPr indent="0" lvl="0" marL="381000" marR="381000" rtl="0" algn="l">
              <a:lnSpc>
                <a:spcPct val="115000"/>
              </a:lnSpc>
              <a:spcBef>
                <a:spcPts val="1200"/>
              </a:spcBef>
              <a:spcAft>
                <a:spcPts val="0"/>
              </a:spcAft>
              <a:buClr>
                <a:schemeClr val="dk1"/>
              </a:buClr>
              <a:buSzPts val="1100"/>
              <a:buFont typeface="Arial"/>
              <a:buNone/>
            </a:pPr>
            <a:r>
              <a:rPr lang="en"/>
              <a:t>"The original vision was to create a portable, battery-powered system with a proprietary operating system and custom storage solutions. However, as we saw earlier, the portability targets were unachievable, and relying on proprietary technologies would have introduced significant technical and schedule risks."</a:t>
            </a:r>
            <a:endParaRPr/>
          </a:p>
          <a:p>
            <a:pPr indent="0" lvl="0" marL="381000" marR="381000" rtl="0" algn="l">
              <a:lnSpc>
                <a:spcPct val="115000"/>
              </a:lnSpc>
              <a:spcBef>
                <a:spcPts val="1200"/>
              </a:spcBef>
              <a:spcAft>
                <a:spcPts val="0"/>
              </a:spcAft>
              <a:buClr>
                <a:schemeClr val="dk1"/>
              </a:buClr>
              <a:buSzPts val="1100"/>
              <a:buFont typeface="Arial"/>
              <a:buNone/>
            </a:pPr>
            <a:r>
              <a:rPr lang="en"/>
              <a:t>"In response, we made the decision to pivot to a desktop, business-grade system. This new direction focuses on using industry-standard OS and storage solutions, which reduces both technical complexity and development time. Importantly, this pivot addresses the critical concerns raised by EDC, ensuring the system aligns with their needs for compatibility, stability, and reliability."</a:t>
            </a:r>
            <a:endParaRPr/>
          </a:p>
          <a:p>
            <a:pPr indent="0" lvl="0" marL="381000" marR="381000" rtl="0" algn="l">
              <a:lnSpc>
                <a:spcPct val="115000"/>
              </a:lnSpc>
              <a:spcBef>
                <a:spcPts val="1200"/>
              </a:spcBef>
              <a:spcAft>
                <a:spcPts val="0"/>
              </a:spcAft>
              <a:buClr>
                <a:schemeClr val="dk1"/>
              </a:buClr>
              <a:buSzPts val="1100"/>
              <a:buFont typeface="Arial"/>
              <a:buNone/>
            </a:pPr>
            <a:r>
              <a:rPr lang="en"/>
              <a:t>"By shifting to a desktop form factor, we eliminate the risks associated with portability, such as excessive weight and limited battery life. This change also makes the system more compatible with existing business software, which is a key requirement for EDC’s market."</a:t>
            </a:r>
            <a:endParaRPr/>
          </a:p>
          <a:p>
            <a:pPr indent="0" lvl="0" marL="381000" marR="381000" rtl="0" algn="l">
              <a:lnSpc>
                <a:spcPct val="115000"/>
              </a:lnSpc>
              <a:spcBef>
                <a:spcPts val="1200"/>
              </a:spcBef>
              <a:spcAft>
                <a:spcPts val="0"/>
              </a:spcAft>
              <a:buClr>
                <a:schemeClr val="dk1"/>
              </a:buClr>
              <a:buSzPts val="1100"/>
              <a:buFont typeface="Arial"/>
              <a:buNone/>
            </a:pPr>
            <a:r>
              <a:rPr lang="en"/>
              <a:t>"This pivot was a strategic decision, driven by the need to meet EDC’s business requirements while ensuring the system could be delivered on time and within budget. The shift to industry-standard components and a desktop form factor allows us to reduce development risk and focus on delivering a stable, reliable system."</a:t>
            </a:r>
            <a:endParaRPr/>
          </a:p>
          <a:p>
            <a:pPr indent="0" lvl="0" marL="381000" marR="381000" rtl="0" algn="l">
              <a:lnSpc>
                <a:spcPct val="115000"/>
              </a:lnSpc>
              <a:spcBef>
                <a:spcPts val="1200"/>
              </a:spcBef>
              <a:spcAft>
                <a:spcPts val="0"/>
              </a:spcAft>
              <a:buClr>
                <a:schemeClr val="dk1"/>
              </a:buClr>
              <a:buSzPts val="1100"/>
              <a:buFont typeface="Arial"/>
              <a:buNone/>
            </a:pPr>
            <a:r>
              <a:rPr lang="en"/>
              <a:t>"Ultimately, the decision prioritised risk reduction and delivery confidence over speculative innovation. The new approach ensures that we can deliver the system within the 13-month timeline and the £500,000 budget."</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b62b149f8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b62b149f8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"In this slide, we have used the MoSCoW method to prioritise the system requirements. The ‘Must Have’ requirements are non-negotiable for project success and form the foundation of the revised design."</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industry-standard operating system</a:t>
            </a:r>
            <a:r>
              <a:rPr lang="en">
                <a:solidFill>
                  <a:schemeClr val="dk1"/>
                </a:solidFill>
              </a:rPr>
              <a:t>, </a:t>
            </a:r>
            <a:r>
              <a:rPr b="1" lang="en">
                <a:solidFill>
                  <a:schemeClr val="dk1"/>
                </a:solidFill>
              </a:rPr>
              <a:t>512KB of RAM</a:t>
            </a:r>
            <a:r>
              <a:rPr lang="en">
                <a:solidFill>
                  <a:schemeClr val="dk1"/>
                </a:solidFill>
              </a:rPr>
              <a:t>, and </a:t>
            </a:r>
            <a:r>
              <a:rPr b="1" lang="en">
                <a:solidFill>
                  <a:schemeClr val="dk1"/>
                </a:solidFill>
              </a:rPr>
              <a:t>TeleBasic compatibility</a:t>
            </a:r>
            <a:r>
              <a:rPr lang="en">
                <a:solidFill>
                  <a:schemeClr val="dk1"/>
                </a:solidFill>
              </a:rPr>
              <a:t> are all essential for ensuring the system is both functional and meets EDC’s business needs."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"In addition, the </a:t>
            </a:r>
            <a:r>
              <a:rPr b="1" lang="en">
                <a:solidFill>
                  <a:schemeClr val="dk1"/>
                </a:solidFill>
              </a:rPr>
              <a:t>standard removable storage</a:t>
            </a:r>
            <a:r>
              <a:rPr lang="en">
                <a:solidFill>
                  <a:schemeClr val="dk1"/>
                </a:solidFill>
              </a:rPr>
              <a:t> and </a:t>
            </a:r>
            <a:r>
              <a:rPr b="1" lang="en">
                <a:solidFill>
                  <a:schemeClr val="dk1"/>
                </a:solidFill>
              </a:rPr>
              <a:t>external keyboard support</a:t>
            </a:r>
            <a:r>
              <a:rPr lang="en">
                <a:solidFill>
                  <a:schemeClr val="dk1"/>
                </a:solidFill>
              </a:rPr>
              <a:t> are critical to ensuring that the system is compatible with existing business environments and user expectations."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bundled office productivity suite</a:t>
            </a:r>
            <a:r>
              <a:rPr lang="en">
                <a:solidFill>
                  <a:schemeClr val="dk1"/>
                </a:solidFill>
              </a:rPr>
              <a:t> is included as part of the essential package, as it is a key feature that makes the Synputer a complete business solution out-of-the-box."</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‘Should Have’</a:t>
            </a:r>
            <a:r>
              <a:rPr lang="en">
                <a:solidFill>
                  <a:schemeClr val="dk1"/>
                </a:solidFill>
              </a:rPr>
              <a:t> category, such as the </a:t>
            </a:r>
            <a:r>
              <a:rPr b="1" lang="en">
                <a:solidFill>
                  <a:schemeClr val="dk1"/>
                </a:solidFill>
              </a:rPr>
              <a:t>Graphical User Interface (GUI)</a:t>
            </a:r>
            <a:r>
              <a:rPr lang="en">
                <a:solidFill>
                  <a:schemeClr val="dk1"/>
                </a:solidFill>
              </a:rPr>
              <a:t>, is not essential to the operation of the system but will improve usability. This feature will be prioritised if resources and time allow, but it is not mandatory for initial deployment."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"Finally, the </a:t>
            </a:r>
            <a:r>
              <a:rPr b="1" lang="en">
                <a:solidFill>
                  <a:schemeClr val="dk1"/>
                </a:solidFill>
              </a:rPr>
              <a:t>‘Won’t Have’</a:t>
            </a:r>
            <a:r>
              <a:rPr lang="en">
                <a:solidFill>
                  <a:schemeClr val="dk1"/>
                </a:solidFill>
              </a:rPr>
              <a:t> section lists the features we have explicitly removed, such as the </a:t>
            </a:r>
            <a:r>
              <a:rPr b="1" lang="en">
                <a:solidFill>
                  <a:schemeClr val="dk1"/>
                </a:solidFill>
              </a:rPr>
              <a:t>portable form factor</a:t>
            </a:r>
            <a:r>
              <a:rPr lang="en">
                <a:solidFill>
                  <a:schemeClr val="dk1"/>
                </a:solidFill>
              </a:rPr>
              <a:t> and the </a:t>
            </a:r>
            <a:r>
              <a:rPr b="1" lang="en">
                <a:solidFill>
                  <a:schemeClr val="dk1"/>
                </a:solidFill>
              </a:rPr>
              <a:t>proprietary OS</a:t>
            </a:r>
            <a:r>
              <a:rPr lang="en">
                <a:solidFill>
                  <a:schemeClr val="dk1"/>
                </a:solidFill>
              </a:rPr>
              <a:t>. These decisions were made based on feasibility and risk mitigation, ensuring we stay within budget and meet the project timeline."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62b149f8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62b149f8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This slide outlines the key assumptions and constraints that underpin the revised system design.”</a:t>
            </a:r>
            <a:endParaRPr/>
          </a:p>
          <a:p>
            <a:pPr indent="0" lvl="0" marL="381000" marR="381000" rtl="0" algn="l">
              <a:lnSpc>
                <a:spcPct val="115000"/>
              </a:lnSpc>
              <a:spcBef>
                <a:spcPts val="1200"/>
              </a:spcBef>
              <a:spcAft>
                <a:spcPts val="0"/>
              </a:spcAft>
              <a:buClr>
                <a:schemeClr val="dk1"/>
              </a:buClr>
              <a:buSzPts val="1100"/>
              <a:buFont typeface="Arial"/>
              <a:buNone/>
            </a:pPr>
            <a:r>
              <a:rPr lang="en"/>
              <a:t>“The assumptions are critical because they set the foundation for the design and delivery of the project. We assume that a third-party operating system can be licensed within budget, and that the desktop form factor will be accepted by EDC, given the technical data supporting this decision.”</a:t>
            </a:r>
            <a:endParaRPr/>
          </a:p>
          <a:p>
            <a:pPr indent="0" lvl="0" marL="381000" marR="381000" rtl="0" algn="l">
              <a:lnSpc>
                <a:spcPct val="115000"/>
              </a:lnSpc>
              <a:spcBef>
                <a:spcPts val="1200"/>
              </a:spcBef>
              <a:spcAft>
                <a:spcPts val="0"/>
              </a:spcAft>
              <a:buClr>
                <a:schemeClr val="dk1"/>
              </a:buClr>
              <a:buSzPts val="1100"/>
              <a:buFont typeface="Arial"/>
              <a:buNone/>
            </a:pPr>
            <a:r>
              <a:rPr lang="en"/>
              <a:t>“We also assume that removing portability will free up budget for higher RAM and licensing costs, and that TeleBasic compatibility can be achieved with an existing interpreter or licensing agreement, avoiding major rework.”</a:t>
            </a:r>
            <a:endParaRPr/>
          </a:p>
          <a:p>
            <a:pPr indent="0" lvl="0" marL="381000" marR="381000" rtl="0" algn="l">
              <a:lnSpc>
                <a:spcPct val="115000"/>
              </a:lnSpc>
              <a:spcBef>
                <a:spcPts val="1200"/>
              </a:spcBef>
              <a:spcAft>
                <a:spcPts val="0"/>
              </a:spcAft>
              <a:buClr>
                <a:schemeClr val="dk1"/>
              </a:buClr>
              <a:buSzPts val="1100"/>
              <a:buFont typeface="Arial"/>
              <a:buNone/>
            </a:pPr>
            <a:r>
              <a:rPr lang="en"/>
              <a:t>“The project operates under fixed constraints: a £500,000 budget, a 13-month timeline, and a retail price of £399.99. These constraints shape every decision made in the project, ensuring we remain on track and within scope.”</a:t>
            </a:r>
            <a:endParaRPr/>
          </a:p>
          <a:p>
            <a:pPr indent="0" lvl="0" marL="381000" marR="381000" rtl="0" algn="l">
              <a:lnSpc>
                <a:spcPct val="115000"/>
              </a:lnSpc>
              <a:spcBef>
                <a:spcPts val="1200"/>
              </a:spcBef>
              <a:spcAft>
                <a:spcPts val="0"/>
              </a:spcAft>
              <a:buClr>
                <a:schemeClr val="dk1"/>
              </a:buClr>
              <a:buSzPts val="1100"/>
              <a:buFont typeface="Arial"/>
              <a:buNone/>
            </a:pPr>
            <a:r>
              <a:rPr lang="en"/>
              <a:t>“It’s important to note that these assumptions are validated continuously through stage-gates and sprint reviews, which ensure that we’re on course and able to adapt if any assumptions prove false.</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62b149f8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62b149f8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The project follows a Hybrid Agile development approach, combining the flexibility of Agile with the governance and cost control of traditional project management.”</a:t>
            </a:r>
            <a:endParaRPr/>
          </a:p>
          <a:p>
            <a:pPr indent="0" lvl="0" marL="381000" marR="381000" rtl="0" algn="l">
              <a:lnSpc>
                <a:spcPct val="115000"/>
              </a:lnSpc>
              <a:spcBef>
                <a:spcPts val="1200"/>
              </a:spcBef>
              <a:spcAft>
                <a:spcPts val="0"/>
              </a:spcAft>
              <a:buClr>
                <a:schemeClr val="dk1"/>
              </a:buClr>
              <a:buSzPts val="1100"/>
              <a:buFont typeface="Arial"/>
              <a:buNone/>
            </a:pPr>
            <a:r>
              <a:rPr lang="en"/>
              <a:t>“We’ve adopted a stage-gated structure for the project, with four key gates: Requirements &amp; Feasibility, Design &amp; Architecture, Integration &amp; Test, and User Acceptance &amp; Handover. These gates provide structured checkpoints where we review progress, ensure alignment with the project goals, and make any necessary adjustments.”</a:t>
            </a:r>
            <a:endParaRPr/>
          </a:p>
          <a:p>
            <a:pPr indent="0" lvl="0" marL="381000" marR="381000" rtl="0" algn="l">
              <a:lnSpc>
                <a:spcPct val="115000"/>
              </a:lnSpc>
              <a:spcBef>
                <a:spcPts val="1200"/>
              </a:spcBef>
              <a:spcAft>
                <a:spcPts val="0"/>
              </a:spcAft>
              <a:buClr>
                <a:schemeClr val="dk1"/>
              </a:buClr>
              <a:buSzPts val="1100"/>
              <a:buFont typeface="Arial"/>
              <a:buNone/>
            </a:pPr>
            <a:r>
              <a:rPr lang="en"/>
              <a:t>“In parallel with these gates, we are using Scrum-based iterations to drive development. Each sprint lasts two weeks and is followed by a sprint review with stakeholders. This allows us to demonstrate progress early and address any issues as they arise. Bi-weekly retrospectives also ensure continuous improvement in our processes.”</a:t>
            </a:r>
            <a:endParaRPr/>
          </a:p>
          <a:p>
            <a:pPr indent="0" lvl="0" marL="381000" marR="381000" rtl="0" algn="l">
              <a:lnSpc>
                <a:spcPct val="115000"/>
              </a:lnSpc>
              <a:spcBef>
                <a:spcPts val="1200"/>
              </a:spcBef>
              <a:spcAft>
                <a:spcPts val="0"/>
              </a:spcAft>
              <a:buClr>
                <a:schemeClr val="dk1"/>
              </a:buClr>
              <a:buSzPts val="1100"/>
              <a:buFont typeface="Arial"/>
              <a:buNone/>
            </a:pPr>
            <a:r>
              <a:rPr lang="en"/>
              <a:t>“This Hybrid Agile approach combines the best of both worlds: the flexibility to adapt to change during development and the governance to ensure we stay on track and meet the fixed budget and timeline.</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62b149f8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62b149f8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This slide shows the high-level 13-month project plan, broken down into phases with corresponding milestones. We’ve structured the plan around our stage-gates and sprint reviews, ensuring that the project stays on track and within scope.”</a:t>
            </a:r>
            <a:endParaRPr/>
          </a:p>
          <a:p>
            <a:pPr indent="0" lvl="0" marL="381000" marR="381000" rtl="0" algn="l">
              <a:lnSpc>
                <a:spcPct val="115000"/>
              </a:lnSpc>
              <a:spcBef>
                <a:spcPts val="1200"/>
              </a:spcBef>
              <a:spcAft>
                <a:spcPts val="0"/>
              </a:spcAft>
              <a:buClr>
                <a:schemeClr val="dk1"/>
              </a:buClr>
              <a:buSzPts val="1100"/>
              <a:buFont typeface="Arial"/>
              <a:buNone/>
            </a:pPr>
            <a:r>
              <a:rPr lang="en"/>
              <a:t>“In the first two months, we will focus on finalising requirements and feasibility. This phase will involve confirming the revised project scope and ensuring alignment with EDC’s expectations.”</a:t>
            </a:r>
            <a:endParaRPr/>
          </a:p>
          <a:p>
            <a:pPr indent="0" lvl="0" marL="381000" marR="381000" rtl="0" algn="l">
              <a:lnSpc>
                <a:spcPct val="115000"/>
              </a:lnSpc>
              <a:spcBef>
                <a:spcPts val="1200"/>
              </a:spcBef>
              <a:spcAft>
                <a:spcPts val="0"/>
              </a:spcAft>
              <a:buClr>
                <a:schemeClr val="dk1"/>
              </a:buClr>
              <a:buSzPts val="1100"/>
              <a:buFont typeface="Arial"/>
              <a:buNone/>
            </a:pPr>
            <a:r>
              <a:rPr lang="en"/>
              <a:t>“Months 3 to 4 will be dedicated to the design and architecture phase, where the system architecture will be approved and finalised. This will also include procurement of key components.”</a:t>
            </a:r>
            <a:endParaRPr/>
          </a:p>
          <a:p>
            <a:pPr indent="0" lvl="0" marL="381000" marR="381000" rtl="0" algn="l">
              <a:lnSpc>
                <a:spcPct val="115000"/>
              </a:lnSpc>
              <a:spcBef>
                <a:spcPts val="1200"/>
              </a:spcBef>
              <a:spcAft>
                <a:spcPts val="0"/>
              </a:spcAft>
              <a:buClr>
                <a:schemeClr val="dk1"/>
              </a:buClr>
              <a:buSzPts val="1100"/>
              <a:buFont typeface="Arial"/>
              <a:buNone/>
            </a:pPr>
            <a:r>
              <a:rPr lang="en"/>
              <a:t>“Months 5 to 8 will see the bulk of the development and procurement activities. During this time, the hardware and software will be integrated, and the system will begin to take shape.”</a:t>
            </a:r>
            <a:endParaRPr/>
          </a:p>
          <a:p>
            <a:pPr indent="0" lvl="0" marL="381000" marR="381000" rtl="0" algn="l">
              <a:lnSpc>
                <a:spcPct val="115000"/>
              </a:lnSpc>
              <a:spcBef>
                <a:spcPts val="1200"/>
              </a:spcBef>
              <a:spcAft>
                <a:spcPts val="0"/>
              </a:spcAft>
              <a:buClr>
                <a:schemeClr val="dk1"/>
              </a:buClr>
              <a:buSzPts val="1100"/>
              <a:buFont typeface="Arial"/>
              <a:buNone/>
            </a:pPr>
            <a:r>
              <a:rPr lang="en"/>
              <a:t>“From months 9 to 11, we’ll focus on system integration and testing. This will ensure that the system functions as expected and that all components are fully integrated.”</a:t>
            </a:r>
            <a:endParaRPr/>
          </a:p>
          <a:p>
            <a:pPr indent="0" lvl="0" marL="381000" marR="381000" rtl="0" algn="l">
              <a:lnSpc>
                <a:spcPct val="115000"/>
              </a:lnSpc>
              <a:spcBef>
                <a:spcPts val="1200"/>
              </a:spcBef>
              <a:spcAft>
                <a:spcPts val="0"/>
              </a:spcAft>
              <a:buClr>
                <a:schemeClr val="dk1"/>
              </a:buClr>
              <a:buSzPts val="1100"/>
              <a:buFont typeface="Arial"/>
              <a:buNone/>
            </a:pPr>
            <a:r>
              <a:rPr lang="en"/>
              <a:t>“Finally, in months 12 to 13, we will conduct User Acceptance Testing (UAT) and prepare for release. This will be the final stage where we validate the system with stakeholders and prepare for commercial launch.</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62b149f8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62b149f8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This slide outlines how we are managing both the cost and commercial viability of the project.”</a:t>
            </a:r>
            <a:endParaRPr/>
          </a:p>
          <a:p>
            <a:pPr indent="0" lvl="0" marL="381000" marR="381000" rtl="0" algn="l">
              <a:lnSpc>
                <a:spcPct val="115000"/>
              </a:lnSpc>
              <a:spcBef>
                <a:spcPts val="1200"/>
              </a:spcBef>
              <a:spcAft>
                <a:spcPts val="0"/>
              </a:spcAft>
              <a:buClr>
                <a:schemeClr val="dk1"/>
              </a:buClr>
              <a:buSzPts val="1100"/>
              <a:buFont typeface="Arial"/>
              <a:buNone/>
            </a:pPr>
            <a:r>
              <a:rPr lang="en"/>
              <a:t>“The estimated unit cost of the revised system is around £250. This is well within the advertised retail price of £399.99, allowing us to maintain a healthy margin while ensuring the system remains commercially competitive.”</a:t>
            </a:r>
            <a:endParaRPr/>
          </a:p>
          <a:p>
            <a:pPr indent="0" lvl="0" marL="381000" marR="381000" rtl="0" algn="l">
              <a:lnSpc>
                <a:spcPct val="115000"/>
              </a:lnSpc>
              <a:spcBef>
                <a:spcPts val="1200"/>
              </a:spcBef>
              <a:spcAft>
                <a:spcPts val="0"/>
              </a:spcAft>
              <a:buClr>
                <a:schemeClr val="dk1"/>
              </a:buClr>
              <a:buSzPts val="1100"/>
              <a:buFont typeface="Arial"/>
              <a:buNone/>
            </a:pPr>
            <a:r>
              <a:rPr lang="en"/>
              <a:t>“The total development budget is £500,000, which includes the costs of hardware, software, licensing, and engineering. By eliminating parallel development streams and high-risk R&amp;D, we’re able to focus on delivering the core functionality of the system within the budget and timeline.”</a:t>
            </a:r>
            <a:endParaRPr/>
          </a:p>
          <a:p>
            <a:pPr indent="0" lvl="0" marL="381000" marR="381000" rtl="0" algn="l">
              <a:lnSpc>
                <a:spcPct val="115000"/>
              </a:lnSpc>
              <a:spcBef>
                <a:spcPts val="1200"/>
              </a:spcBef>
              <a:spcAft>
                <a:spcPts val="0"/>
              </a:spcAft>
              <a:buClr>
                <a:schemeClr val="dk1"/>
              </a:buClr>
              <a:buSzPts val="1100"/>
              <a:buFont typeface="Arial"/>
              <a:buNone/>
            </a:pPr>
            <a:r>
              <a:rPr lang="en"/>
              <a:t>“This cost control strategy ensures that the project remains financially viable while still delivering a high-quality product. The scope reduction has been key to ensuring both cost predictability and market competitiveness.</a:t>
            </a:r>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62b149f8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62b149f8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This slide directly addresses the concerns raised by EDC and the strategies we’ve implemented to mitigate these risks.”</a:t>
            </a:r>
            <a:endParaRPr/>
          </a:p>
          <a:p>
            <a:pPr indent="0" lvl="0" marL="381000" marR="381000" rtl="0" algn="l">
              <a:lnSpc>
                <a:spcPct val="115000"/>
              </a:lnSpc>
              <a:spcBef>
                <a:spcPts val="1200"/>
              </a:spcBef>
              <a:spcAft>
                <a:spcPts val="0"/>
              </a:spcAft>
              <a:buClr>
                <a:schemeClr val="dk1"/>
              </a:buClr>
              <a:buSzPts val="1100"/>
              <a:buFont typeface="Arial"/>
              <a:buNone/>
            </a:pPr>
            <a:r>
              <a:rPr lang="en"/>
              <a:t>“The first concern was the unachievability of portability targets. By shifting to a desktop form factor, we’ve eliminated the weight and battery life challenges, ensuring the system is both functional and commercially viable.”</a:t>
            </a:r>
            <a:endParaRPr/>
          </a:p>
          <a:p>
            <a:pPr indent="0" lvl="0" marL="381000" marR="381000" rtl="0" algn="l">
              <a:lnSpc>
                <a:spcPct val="115000"/>
              </a:lnSpc>
              <a:spcBef>
                <a:spcPts val="1200"/>
              </a:spcBef>
              <a:spcAft>
                <a:spcPts val="0"/>
              </a:spcAft>
              <a:buClr>
                <a:schemeClr val="dk1"/>
              </a:buClr>
              <a:buSzPts val="1100"/>
              <a:buFont typeface="Arial"/>
              <a:buNone/>
            </a:pPr>
            <a:r>
              <a:rPr lang="en"/>
              <a:t>“Next, the high technical risk of a proprietary OS and storage solution was mitigated by switching to industry-standard solutions. This decision reduces both technical and commercial risk and ensures compatibility with existing business systems.”</a:t>
            </a:r>
            <a:endParaRPr/>
          </a:p>
          <a:p>
            <a:pPr indent="0" lvl="0" marL="381000" marR="381000" rtl="0" algn="l">
              <a:lnSpc>
                <a:spcPct val="115000"/>
              </a:lnSpc>
              <a:spcBef>
                <a:spcPts val="1200"/>
              </a:spcBef>
              <a:spcAft>
                <a:spcPts val="0"/>
              </a:spcAft>
              <a:buClr>
                <a:schemeClr val="dk1"/>
              </a:buClr>
              <a:buSzPts val="1100"/>
              <a:buFont typeface="Arial"/>
              <a:buNone/>
            </a:pPr>
            <a:r>
              <a:rPr lang="en"/>
              <a:t>“The business compatibility concerns were addressed by including TeleBasic support and a bundled office suite, ensuring seamless migration for existing users and providing a complete solution for new customers.”</a:t>
            </a:r>
            <a:endParaRPr/>
          </a:p>
          <a:p>
            <a:pPr indent="0" lvl="0" marL="381000" marR="381000" rtl="0" algn="l">
              <a:lnSpc>
                <a:spcPct val="115000"/>
              </a:lnSpc>
              <a:spcBef>
                <a:spcPts val="1200"/>
              </a:spcBef>
              <a:spcAft>
                <a:spcPts val="0"/>
              </a:spcAft>
              <a:buClr>
                <a:schemeClr val="dk1"/>
              </a:buClr>
              <a:buSzPts val="1100"/>
              <a:buFont typeface="Arial"/>
              <a:buNone/>
            </a:pPr>
            <a:r>
              <a:rPr lang="en"/>
              <a:t>“To manage delivery risk within 13 months, we adopted a Hybrid Agile approach, with stage-gates to track progress and mitigate any delays. Finally, cost overrun risk was addressed by reducing scope and focusing on a single platform, which streamlines development and procurement.</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62b149f89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62b149f89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In conclusion, this revised plan delivers a technically feasible system that is commercially viable within the £399.99 price point and aligned with EDC’s key requirements. We’ve eliminated the high-risk elements from the original plan, focusing on a reliable, business-grade system that can be delivered within the 13-month timeline.”</a:t>
            </a:r>
            <a:endParaRPr/>
          </a:p>
          <a:p>
            <a:pPr indent="0" lvl="0" marL="381000" marR="381000" rtl="0" algn="l">
              <a:lnSpc>
                <a:spcPct val="115000"/>
              </a:lnSpc>
              <a:spcBef>
                <a:spcPts val="1200"/>
              </a:spcBef>
              <a:spcAft>
                <a:spcPts val="0"/>
              </a:spcAft>
              <a:buClr>
                <a:schemeClr val="dk1"/>
              </a:buClr>
              <a:buSzPts val="1100"/>
              <a:buFont typeface="Arial"/>
              <a:buNone/>
            </a:pPr>
            <a:r>
              <a:rPr lang="en"/>
              <a:t>“The immediate next steps are to confirm the revised requirements baseline, approve the architecture and licensing decisions, and initiate procurement and sprint planning. Once these steps are completed, the project can move forward with confidence, knowing that the risks have been mitigated and the system is aligned with stakeholder needs.”</a:t>
            </a:r>
            <a:endParaRPr/>
          </a:p>
          <a:p>
            <a:pPr indent="0" lvl="0" marL="381000" marR="381000" rtl="0" algn="l">
              <a:lnSpc>
                <a:spcPct val="115000"/>
              </a:lnSpc>
              <a:spcBef>
                <a:spcPts val="1200"/>
              </a:spcBef>
              <a:spcAft>
                <a:spcPts val="0"/>
              </a:spcAft>
              <a:buClr>
                <a:schemeClr val="dk1"/>
              </a:buClr>
              <a:buSzPts val="1100"/>
              <a:buFont typeface="Arial"/>
              <a:buNone/>
            </a:pPr>
            <a:r>
              <a:rPr lang="en"/>
              <a:t>“This is a shift from speculative innovation to controlled delivery, and we are now positioned to execute with a clear, achievable plan.</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22425" y="276375"/>
            <a:ext cx="82065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dk1"/>
                </a:solidFill>
              </a:rPr>
              <a:t>Project Context and Purpose – Delivering within Constraints</a:t>
            </a:r>
            <a:endParaRPr sz="2300">
              <a:solidFill>
                <a:schemeClr val="dk1"/>
              </a:solidFill>
            </a:endParaRPr>
          </a:p>
        </p:txBody>
      </p:sp>
      <p:sp>
        <p:nvSpPr>
          <p:cNvPr id="55" name="Google Shape;55;p13"/>
          <p:cNvSpPr txBox="1"/>
          <p:nvPr/>
        </p:nvSpPr>
        <p:spPr>
          <a:xfrm>
            <a:off x="322425" y="928900"/>
            <a:ext cx="8482800" cy="315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This presentation outlines the strategic pivot, showing how the revised system will be delivered within the £500,000 budget and fixed 13-month timeline.</a:t>
            </a:r>
            <a:endParaRPr b="1" sz="1300">
              <a:solidFill>
                <a:schemeClr val="dk1"/>
              </a:solidFill>
            </a:endParaRPr>
          </a:p>
          <a:p>
            <a:pPr indent="0" lvl="0" marL="0" rtl="0" algn="l">
              <a:lnSpc>
                <a:spcPct val="115000"/>
              </a:lnSpc>
              <a:spcBef>
                <a:spcPts val="1400"/>
              </a:spcBef>
              <a:spcAft>
                <a:spcPts val="0"/>
              </a:spcAft>
              <a:buNone/>
            </a:pPr>
            <a:r>
              <a:t/>
            </a:r>
            <a:endParaRPr b="1" sz="13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rPr>
              <a:t>Original approach was unfeasible due to portability and high-risk technical choices.</a:t>
            </a:r>
            <a:endParaRPr>
              <a:solidFill>
                <a:schemeClr val="dk1"/>
              </a:solidFill>
            </a:endParaRPr>
          </a:p>
          <a:p>
            <a:pPr indent="0" lvl="0" marL="0" marR="381000" rtl="0" algn="l">
              <a:lnSpc>
                <a:spcPct val="115000"/>
              </a:lnSpc>
              <a:spcBef>
                <a:spcPts val="1200"/>
              </a:spcBef>
              <a:spcAft>
                <a:spcPts val="0"/>
              </a:spcAft>
              <a:buNone/>
            </a:pPr>
            <a:r>
              <a:t/>
            </a:r>
            <a:endParaRPr sz="1800">
              <a:solidFill>
                <a:schemeClr val="dk2"/>
              </a:solidFill>
            </a:endParaRPr>
          </a:p>
          <a:p>
            <a:pPr indent="0" lvl="0" marL="0" marR="381000" rtl="0" algn="l">
              <a:lnSpc>
                <a:spcPct val="115000"/>
              </a:lnSpc>
              <a:spcBef>
                <a:spcPts val="1200"/>
              </a:spcBef>
              <a:spcAft>
                <a:spcPts val="0"/>
              </a:spcAft>
              <a:buNone/>
            </a:pPr>
            <a:r>
              <a:rPr lang="en" sz="1800">
                <a:solidFill>
                  <a:schemeClr val="dk2"/>
                </a:solidFill>
              </a:rPr>
              <a:t>One architecture, multiple market offerings — without duplicating engineering effort.</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Accommodating Stakeholder Requirements</a:t>
            </a:r>
            <a:endParaRPr/>
          </a:p>
        </p:txBody>
      </p:sp>
      <p:graphicFrame>
        <p:nvGraphicFramePr>
          <p:cNvPr id="61" name="Google Shape;61;p14"/>
          <p:cNvGraphicFramePr/>
          <p:nvPr/>
        </p:nvGraphicFramePr>
        <p:xfrm>
          <a:off x="311700" y="1017725"/>
          <a:ext cx="3000000" cy="3000000"/>
        </p:xfrm>
        <a:graphic>
          <a:graphicData uri="http://schemas.openxmlformats.org/drawingml/2006/table">
            <a:tbl>
              <a:tblPr>
                <a:noFill/>
                <a:tableStyleId>{353EF6AF-5DB0-4CE3-82ED-1EB63EB6BCD4}</a:tableStyleId>
              </a:tblPr>
              <a:tblGrid>
                <a:gridCol w="4316950"/>
                <a:gridCol w="4316950"/>
              </a:tblGrid>
              <a:tr h="307725">
                <a:tc>
                  <a:txBody>
                    <a:bodyPr/>
                    <a:lstStyle/>
                    <a:p>
                      <a:pPr indent="0" lvl="0" marL="0" rtl="0" algn="l">
                        <a:lnSpc>
                          <a:spcPct val="115000"/>
                        </a:lnSpc>
                        <a:spcBef>
                          <a:spcPts val="0"/>
                        </a:spcBef>
                        <a:spcAft>
                          <a:spcPts val="0"/>
                        </a:spcAft>
                        <a:buNone/>
                      </a:pPr>
                      <a:r>
                        <a:rPr b="1" lang="en" sz="900"/>
                        <a:t>Concern</a:t>
                      </a:r>
                      <a:endParaRPr b="1" sz="900"/>
                    </a:p>
                  </a:txBody>
                  <a:tcPr marT="91425" marB="91425" marR="91425" marL="91425"/>
                </a:tc>
                <a:tc>
                  <a:txBody>
                    <a:bodyPr/>
                    <a:lstStyle/>
                    <a:p>
                      <a:pPr indent="0" lvl="0" marL="0" rtl="0" algn="l">
                        <a:lnSpc>
                          <a:spcPct val="115000"/>
                        </a:lnSpc>
                        <a:spcBef>
                          <a:spcPts val="0"/>
                        </a:spcBef>
                        <a:spcAft>
                          <a:spcPts val="0"/>
                        </a:spcAft>
                        <a:buNone/>
                      </a:pPr>
                      <a:r>
                        <a:rPr b="1" lang="en" sz="900"/>
                        <a:t>Description</a:t>
                      </a:r>
                      <a:endParaRPr b="1" sz="900"/>
                    </a:p>
                  </a:txBody>
                  <a:tcPr marT="91425" marB="91425" marR="91425" marL="91425"/>
                </a:tc>
              </a:tr>
              <a:tr h="722525">
                <a:tc>
                  <a:txBody>
                    <a:bodyPr/>
                    <a:lstStyle/>
                    <a:p>
                      <a:pPr indent="0" lvl="0" marL="0" rtl="0" algn="l">
                        <a:spcBef>
                          <a:spcPts val="0"/>
                        </a:spcBef>
                        <a:spcAft>
                          <a:spcPts val="0"/>
                        </a:spcAft>
                        <a:buNone/>
                      </a:pPr>
                      <a:r>
                        <a:rPr lang="en" sz="1200"/>
                        <a:t>Portability targets unachievable</a:t>
                      </a:r>
                      <a:endParaRPr sz="1200"/>
                    </a:p>
                  </a:txBody>
                  <a:tcPr marT="91425" marB="91425" marR="91425" marL="91425"/>
                </a:tc>
                <a:tc>
                  <a:txBody>
                    <a:bodyPr/>
                    <a:lstStyle/>
                    <a:p>
                      <a:pPr indent="0" lvl="0" marL="0" rtl="0" algn="l">
                        <a:spcBef>
                          <a:spcPts val="0"/>
                        </a:spcBef>
                        <a:spcAft>
                          <a:spcPts val="0"/>
                        </a:spcAft>
                        <a:buNone/>
                      </a:pPr>
                      <a:r>
                        <a:rPr lang="en" sz="1200"/>
                        <a:t>The initial portable system was found to be unfeasible with weight and battery life exceeding specifications.</a:t>
                      </a:r>
                      <a:endParaRPr sz="1200"/>
                    </a:p>
                  </a:txBody>
                  <a:tcPr marT="91425" marB="91425" marR="91425" marL="91425"/>
                </a:tc>
              </a:tr>
              <a:tr h="722525">
                <a:tc>
                  <a:txBody>
                    <a:bodyPr/>
                    <a:lstStyle/>
                    <a:p>
                      <a:pPr indent="0" lvl="0" marL="0" rtl="0" algn="l">
                        <a:spcBef>
                          <a:spcPts val="0"/>
                        </a:spcBef>
                        <a:spcAft>
                          <a:spcPts val="0"/>
                        </a:spcAft>
                        <a:buNone/>
                      </a:pPr>
                      <a:r>
                        <a:rPr lang="en" sz="1200"/>
                        <a:t>High technical risk (proprietary OS &amp; storage)</a:t>
                      </a:r>
                      <a:endParaRPr sz="1200"/>
                    </a:p>
                  </a:txBody>
                  <a:tcPr marT="91425" marB="91425" marR="91425" marL="91425"/>
                </a:tc>
                <a:tc>
                  <a:txBody>
                    <a:bodyPr/>
                    <a:lstStyle/>
                    <a:p>
                      <a:pPr indent="0" lvl="0" marL="0" rtl="0" algn="l">
                        <a:spcBef>
                          <a:spcPts val="0"/>
                        </a:spcBef>
                        <a:spcAft>
                          <a:spcPts val="0"/>
                        </a:spcAft>
                        <a:buNone/>
                      </a:pPr>
                      <a:r>
                        <a:rPr lang="en" sz="1200"/>
                        <a:t>Proprietary OS and storage solutions posed high technical risks, leading to potential delays and integration issues.</a:t>
                      </a:r>
                      <a:endParaRPr sz="1200"/>
                    </a:p>
                  </a:txBody>
                  <a:tcPr marT="91425" marB="91425" marR="91425" marL="91425"/>
                </a:tc>
              </a:tr>
              <a:tr h="722525">
                <a:tc>
                  <a:txBody>
                    <a:bodyPr/>
                    <a:lstStyle/>
                    <a:p>
                      <a:pPr indent="0" lvl="0" marL="0" rtl="0" algn="l">
                        <a:spcBef>
                          <a:spcPts val="0"/>
                        </a:spcBef>
                        <a:spcAft>
                          <a:spcPts val="0"/>
                        </a:spcAft>
                        <a:buNone/>
                      </a:pPr>
                      <a:r>
                        <a:rPr lang="en" sz="1200"/>
                        <a:t>Business compatibility concerns</a:t>
                      </a:r>
                      <a:endParaRPr sz="1200"/>
                    </a:p>
                  </a:txBody>
                  <a:tcPr marT="91425" marB="91425" marR="91425" marL="91425"/>
                </a:tc>
                <a:tc>
                  <a:txBody>
                    <a:bodyPr/>
                    <a:lstStyle/>
                    <a:p>
                      <a:pPr indent="0" lvl="0" marL="0" rtl="0" algn="l">
                        <a:spcBef>
                          <a:spcPts val="0"/>
                        </a:spcBef>
                        <a:spcAft>
                          <a:spcPts val="0"/>
                        </a:spcAft>
                        <a:buNone/>
                      </a:pPr>
                      <a:r>
                        <a:rPr lang="en" sz="1200"/>
                        <a:t>Concerns about the system’s ability to integrate with existing business applications and meet stability standards.</a:t>
                      </a:r>
                      <a:endParaRPr sz="1200"/>
                    </a:p>
                  </a:txBody>
                  <a:tcPr marT="91425" marB="91425" marR="91425" marL="91425"/>
                </a:tc>
              </a:tr>
              <a:tr h="630000">
                <a:tc>
                  <a:txBody>
                    <a:bodyPr/>
                    <a:lstStyle/>
                    <a:p>
                      <a:pPr indent="0" lvl="0" marL="0" rtl="0" algn="l">
                        <a:spcBef>
                          <a:spcPts val="0"/>
                        </a:spcBef>
                        <a:spcAft>
                          <a:spcPts val="0"/>
                        </a:spcAft>
                        <a:buNone/>
                      </a:pPr>
                      <a:r>
                        <a:rPr lang="en" sz="1200"/>
                        <a:t>Delivery risk within 13 months</a:t>
                      </a:r>
                      <a:endParaRPr sz="1200"/>
                    </a:p>
                  </a:txBody>
                  <a:tcPr marT="91425" marB="91425" marR="91425" marL="91425"/>
                </a:tc>
                <a:tc>
                  <a:txBody>
                    <a:bodyPr/>
                    <a:lstStyle/>
                    <a:p>
                      <a:pPr indent="0" lvl="0" marL="0" rtl="0" algn="l">
                        <a:spcBef>
                          <a:spcPts val="0"/>
                        </a:spcBef>
                        <a:spcAft>
                          <a:spcPts val="0"/>
                        </a:spcAft>
                        <a:buNone/>
                      </a:pPr>
                      <a:r>
                        <a:rPr lang="en" sz="1200"/>
                        <a:t>Concern about the feasibility of delivering the system within the 13-month project timeline.</a:t>
                      </a:r>
                      <a:endParaRPr sz="1200"/>
                    </a:p>
                  </a:txBody>
                  <a:tcPr marT="91425" marB="91425" marR="91425" marL="91425"/>
                </a:tc>
              </a:tr>
              <a:tr h="630000">
                <a:tc>
                  <a:txBody>
                    <a:bodyPr/>
                    <a:lstStyle/>
                    <a:p>
                      <a:pPr indent="0" lvl="0" marL="0" rtl="0" algn="l">
                        <a:spcBef>
                          <a:spcPts val="0"/>
                        </a:spcBef>
                        <a:spcAft>
                          <a:spcPts val="0"/>
                        </a:spcAft>
                        <a:buNone/>
                      </a:pPr>
                      <a:r>
                        <a:rPr lang="en" sz="1200"/>
                        <a:t>Cost overrun risk</a:t>
                      </a:r>
                      <a:endParaRPr sz="1200"/>
                    </a:p>
                  </a:txBody>
                  <a:tcPr marT="91425" marB="91425" marR="91425" marL="91425"/>
                </a:tc>
                <a:tc>
                  <a:txBody>
                    <a:bodyPr/>
                    <a:lstStyle/>
                    <a:p>
                      <a:pPr indent="0" lvl="0" marL="0" rtl="0" algn="l">
                        <a:spcBef>
                          <a:spcPts val="0"/>
                        </a:spcBef>
                        <a:spcAft>
                          <a:spcPts val="0"/>
                        </a:spcAft>
                        <a:buNone/>
                      </a:pPr>
                      <a:r>
                        <a:rPr lang="en" sz="1200"/>
                        <a:t>The original design required complex custom developments, risking significant cost overruns.</a:t>
                      </a:r>
                      <a:endParaRPr sz="1200"/>
                    </a:p>
                  </a:txBody>
                  <a:tcPr marT="91425" marB="91425" marR="91425" marL="91425"/>
                </a:tc>
              </a:tr>
            </a:tbl>
          </a:graphicData>
        </a:graphic>
      </p:graphicFrame>
      <p:sp>
        <p:nvSpPr>
          <p:cNvPr id="62" name="Google Shape;62;p14"/>
          <p:cNvSpPr txBox="1"/>
          <p:nvPr/>
        </p:nvSpPr>
        <p:spPr>
          <a:xfrm>
            <a:off x="547400" y="4727550"/>
            <a:ext cx="839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These concerns represent significant risks to both timeline and budget.</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en" sz="2500"/>
              <a:t>Strategic Project Pivot</a:t>
            </a:r>
            <a:endParaRPr b="1" sz="2500"/>
          </a:p>
          <a:p>
            <a:pPr indent="0" lvl="0" marL="0" rtl="0" algn="l">
              <a:lnSpc>
                <a:spcPct val="115000"/>
              </a:lnSpc>
              <a:spcBef>
                <a:spcPts val="1200"/>
              </a:spcBef>
              <a:spcAft>
                <a:spcPts val="1200"/>
              </a:spcAft>
              <a:buNone/>
            </a:pPr>
            <a:r>
              <a:rPr b="1" lang="en" sz="1100"/>
              <a:t>Realigning the project to meet financial, technical, and timeline constraints</a:t>
            </a:r>
            <a:endParaRPr b="1" sz="1100"/>
          </a:p>
        </p:txBody>
      </p:sp>
      <p:sp>
        <p:nvSpPr>
          <p:cNvPr id="68" name="Google Shape;68;p15"/>
          <p:cNvSpPr txBox="1"/>
          <p:nvPr>
            <p:ph idx="1" type="body"/>
          </p:nvPr>
        </p:nvSpPr>
        <p:spPr>
          <a:xfrm>
            <a:off x="4821000" y="1467250"/>
            <a:ext cx="40113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Strategic Pivot</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Desktop, business-grade system</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Industry-standard OS and storage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Reduced technical and commercial risk</a:t>
            </a:r>
            <a:endParaRPr b="1" sz="1300">
              <a:solidFill>
                <a:schemeClr val="dk1"/>
              </a:solidFill>
            </a:endParaRPr>
          </a:p>
        </p:txBody>
      </p:sp>
      <p:sp>
        <p:nvSpPr>
          <p:cNvPr id="69" name="Google Shape;69;p15"/>
          <p:cNvSpPr txBox="1"/>
          <p:nvPr>
            <p:ph idx="1" type="body"/>
          </p:nvPr>
        </p:nvSpPr>
        <p:spPr>
          <a:xfrm>
            <a:off x="311700" y="1467250"/>
            <a:ext cx="4149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Original Direction</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Portable, battery-powered system</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Proprietary OS and storage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High innovation density</a:t>
            </a:r>
            <a:endParaRPr sz="1100">
              <a:solidFill>
                <a:schemeClr val="dk1"/>
              </a:solidFill>
            </a:endParaRPr>
          </a:p>
          <a:p>
            <a:pPr indent="0" lvl="0" marL="0" rtl="0" algn="l">
              <a:spcBef>
                <a:spcPts val="1200"/>
              </a:spcBef>
              <a:spcAft>
                <a:spcPts val="1200"/>
              </a:spcAft>
              <a:buNone/>
            </a:pPr>
            <a:r>
              <a:t/>
            </a:r>
            <a:endParaRPr/>
          </a:p>
        </p:txBody>
      </p:sp>
      <p:sp>
        <p:nvSpPr>
          <p:cNvPr id="70" name="Google Shape;70;p15"/>
          <p:cNvSpPr txBox="1"/>
          <p:nvPr/>
        </p:nvSpPr>
        <p:spPr>
          <a:xfrm>
            <a:off x="449550" y="3585925"/>
            <a:ext cx="8244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Risk reduction and delivery confidence were prioritised over speculative innovation to ensure commercial success and timely delivery.</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Revised Requirements – Feasible and Risk-Reduced Solution</a:t>
            </a:r>
            <a:endParaRPr sz="2320"/>
          </a:p>
        </p:txBody>
      </p:sp>
      <p:sp>
        <p:nvSpPr>
          <p:cNvPr id="76" name="Google Shape;76;p16"/>
          <p:cNvSpPr txBox="1"/>
          <p:nvPr>
            <p:ph idx="1" type="body"/>
          </p:nvPr>
        </p:nvSpPr>
        <p:spPr>
          <a:xfrm>
            <a:off x="311700" y="1152475"/>
            <a:ext cx="31353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Must Have</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Industry-standard operating system</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 512 KB RAM</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TeleBasic compatibility</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Standard removable storage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External keyboard support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Bundled office productivity suite</a:t>
            </a:r>
            <a:endParaRPr sz="1100">
              <a:solidFill>
                <a:schemeClr val="dk1"/>
              </a:solidFill>
            </a:endParaRPr>
          </a:p>
          <a:p>
            <a:pPr indent="0" lvl="0" marL="0" rtl="0" algn="l">
              <a:spcBef>
                <a:spcPts val="1200"/>
              </a:spcBef>
              <a:spcAft>
                <a:spcPts val="1200"/>
              </a:spcAft>
              <a:buNone/>
            </a:pPr>
            <a:r>
              <a:t/>
            </a:r>
            <a:endParaRPr/>
          </a:p>
        </p:txBody>
      </p:sp>
      <p:sp>
        <p:nvSpPr>
          <p:cNvPr id="77" name="Google Shape;77;p16"/>
          <p:cNvSpPr txBox="1"/>
          <p:nvPr>
            <p:ph idx="1" type="body"/>
          </p:nvPr>
        </p:nvSpPr>
        <p:spPr>
          <a:xfrm>
            <a:off x="3511825" y="1152475"/>
            <a:ext cx="52398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chemeClr val="dk1"/>
                </a:solidFill>
              </a:rPr>
              <a:t>Won’t Have</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Portable form factor</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Proprietary OS or storage technologies</a:t>
            </a:r>
            <a:endParaRPr sz="1100">
              <a:solidFill>
                <a:schemeClr val="dk1"/>
              </a:solidFill>
            </a:endParaRPr>
          </a:p>
          <a:p>
            <a:pPr indent="0" lvl="0" marL="0" rtl="0" algn="l">
              <a:spcBef>
                <a:spcPts val="1200"/>
              </a:spcBef>
              <a:spcAft>
                <a:spcPts val="0"/>
              </a:spcAft>
              <a:buNone/>
            </a:pPr>
            <a:r>
              <a:t/>
            </a:r>
            <a:endParaRPr b="1" sz="1100">
              <a:solidFill>
                <a:schemeClr val="dk1"/>
              </a:solidFill>
            </a:endParaRPr>
          </a:p>
          <a:p>
            <a:pPr indent="0" lvl="0" marL="0" rtl="0" algn="l">
              <a:spcBef>
                <a:spcPts val="1200"/>
              </a:spcBef>
              <a:spcAft>
                <a:spcPts val="1200"/>
              </a:spcAft>
              <a:buNone/>
            </a:pPr>
            <a:r>
              <a:rPr b="1" lang="en" sz="1100">
                <a:solidFill>
                  <a:schemeClr val="dk1"/>
                </a:solidFill>
              </a:rPr>
              <a:t>Requirements prioritised based on technical feasibility, stakeholder value, and risk mitigation.</a:t>
            </a:r>
            <a:endParaRPr b="1"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Assumptions and Project Constraints</a:t>
            </a:r>
            <a:endParaRPr/>
          </a:p>
        </p:txBody>
      </p:sp>
      <p:sp>
        <p:nvSpPr>
          <p:cNvPr id="83" name="Google Shape;83;p17"/>
          <p:cNvSpPr txBox="1"/>
          <p:nvPr>
            <p:ph idx="1" type="body"/>
          </p:nvPr>
        </p:nvSpPr>
        <p:spPr>
          <a:xfrm>
            <a:off x="311700" y="1152475"/>
            <a:ext cx="39489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Third-party operating system can be licensed within budget</a:t>
            </a:r>
            <a:endParaRPr/>
          </a:p>
          <a:p>
            <a:pPr indent="-342900" lvl="0" marL="457200" rtl="0" algn="l">
              <a:spcBef>
                <a:spcPts val="0"/>
              </a:spcBef>
              <a:spcAft>
                <a:spcPts val="0"/>
              </a:spcAft>
              <a:buSzPts val="1800"/>
              <a:buChar char="●"/>
            </a:pPr>
            <a:r>
              <a:rPr lang="en"/>
              <a:t>Desktop form factor accepted by EDC</a:t>
            </a:r>
            <a:endParaRPr/>
          </a:p>
          <a:p>
            <a:pPr indent="-342900" lvl="0" marL="457200" rtl="0" algn="l">
              <a:spcBef>
                <a:spcPts val="0"/>
              </a:spcBef>
              <a:spcAft>
                <a:spcPts val="0"/>
              </a:spcAft>
              <a:buSzPts val="1800"/>
              <a:buChar char="●"/>
            </a:pPr>
            <a:r>
              <a:rPr lang="en"/>
              <a:t>Cost savings from portability removal offset higher RAM and licensing costs</a:t>
            </a:r>
            <a:endParaRPr/>
          </a:p>
          <a:p>
            <a:pPr indent="-342900" lvl="0" marL="457200" rtl="0" algn="l">
              <a:spcBef>
                <a:spcPts val="0"/>
              </a:spcBef>
              <a:spcAft>
                <a:spcPts val="0"/>
              </a:spcAft>
              <a:buSzPts val="1800"/>
              <a:buChar char="●"/>
            </a:pPr>
            <a:r>
              <a:rPr lang="en"/>
              <a:t>TeleBasic interpreter or licence available without major rework</a:t>
            </a:r>
            <a:endParaRPr/>
          </a:p>
          <a:p>
            <a:pPr indent="0" lvl="0" marL="0" rtl="0" algn="l">
              <a:spcBef>
                <a:spcPts val="1200"/>
              </a:spcBef>
              <a:spcAft>
                <a:spcPts val="1200"/>
              </a:spcAft>
              <a:buNone/>
            </a:pPr>
            <a:r>
              <a:t/>
            </a:r>
            <a:endParaRPr/>
          </a:p>
        </p:txBody>
      </p:sp>
      <p:sp>
        <p:nvSpPr>
          <p:cNvPr id="84" name="Google Shape;84;p17"/>
          <p:cNvSpPr txBox="1"/>
          <p:nvPr>
            <p:ph idx="1" type="body"/>
          </p:nvPr>
        </p:nvSpPr>
        <p:spPr>
          <a:xfrm>
            <a:off x="4694050" y="1152475"/>
            <a:ext cx="39489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Fixed budget: </a:t>
            </a:r>
            <a:r>
              <a:rPr b="1" lang="en" sz="1100">
                <a:solidFill>
                  <a:schemeClr val="dk1"/>
                </a:solidFill>
              </a:rPr>
              <a:t>£500,000</a:t>
            </a: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Fixed delivery timeline: </a:t>
            </a:r>
            <a:r>
              <a:rPr b="1" lang="en" sz="1100">
                <a:solidFill>
                  <a:schemeClr val="dk1"/>
                </a:solidFill>
              </a:rPr>
              <a:t>13 months</a:t>
            </a: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Advertised retail price: </a:t>
            </a:r>
            <a:r>
              <a:rPr b="1" lang="en" sz="1100">
                <a:solidFill>
                  <a:schemeClr val="dk1"/>
                </a:solidFill>
              </a:rPr>
              <a:t>£399.99</a:t>
            </a:r>
            <a:endParaRPr b="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Small, fixed engineering team</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rPr lang="en" sz="1100">
                <a:solidFill>
                  <a:schemeClr val="dk1"/>
                </a:solidFill>
              </a:rPr>
              <a:t>Assumptions validated continuously through stage-gates and sprint reviews.</a:t>
            </a: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t>Hybrid Agile Approach for Feasible and Controlled Delivery</a:t>
            </a:r>
            <a:endParaRPr sz="2420"/>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Stage-Gated Structure</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Requirements &amp; Feasibility Gate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Design &amp; Architecture Gate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Integration &amp; Test Gate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User Acceptance &amp; Handover Gate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Combines Agile flexibility with structured governance and cost control, ensuring reliable delivery within project constraints.</a:t>
            </a:r>
            <a:endParaRPr/>
          </a:p>
        </p:txBody>
      </p:sp>
      <p:sp>
        <p:nvSpPr>
          <p:cNvPr id="91" name="Google Shape;91;p18"/>
          <p:cNvSpPr txBox="1"/>
          <p:nvPr/>
        </p:nvSpPr>
        <p:spPr>
          <a:xfrm>
            <a:off x="4410300" y="1152475"/>
            <a:ext cx="4422000" cy="148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Scrum-Based Iterations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2-week development sprints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Sprint reviews with stakeholders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Bi-weekly retrospectives</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13-Month Project Plan &amp; Key Milestones</a:t>
            </a:r>
            <a:endParaRPr/>
          </a:p>
        </p:txBody>
      </p:sp>
      <p:graphicFrame>
        <p:nvGraphicFramePr>
          <p:cNvPr id="97" name="Google Shape;97;p19"/>
          <p:cNvGraphicFramePr/>
          <p:nvPr/>
        </p:nvGraphicFramePr>
        <p:xfrm>
          <a:off x="392100" y="1206675"/>
          <a:ext cx="3000000" cy="3000000"/>
        </p:xfrm>
        <a:graphic>
          <a:graphicData uri="http://schemas.openxmlformats.org/drawingml/2006/table">
            <a:tbl>
              <a:tblPr>
                <a:noFill/>
                <a:tableStyleId>{353EF6AF-5DB0-4CE3-82ED-1EB63EB6BCD4}</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a:t>Month 1–2</a:t>
                      </a:r>
                      <a:endParaRPr/>
                    </a:p>
                  </a:txBody>
                  <a:tcPr marT="91425" marB="91425" marR="91425" marL="91425"/>
                </a:tc>
                <a:tc>
                  <a:txBody>
                    <a:bodyPr/>
                    <a:lstStyle/>
                    <a:p>
                      <a:pPr indent="0" lvl="0" marL="0" rtl="0" algn="l">
                        <a:spcBef>
                          <a:spcPts val="0"/>
                        </a:spcBef>
                        <a:spcAft>
                          <a:spcPts val="0"/>
                        </a:spcAft>
                        <a:buNone/>
                      </a:pPr>
                      <a:r>
                        <a:rPr lang="en"/>
                        <a:t>Month 3-4</a:t>
                      </a:r>
                      <a:endParaRPr/>
                    </a:p>
                  </a:txBody>
                  <a:tcPr marT="91425" marB="91425" marR="91425" marL="91425"/>
                </a:tc>
                <a:tc>
                  <a:txBody>
                    <a:bodyPr/>
                    <a:lstStyle/>
                    <a:p>
                      <a:pPr indent="0" lvl="0" marL="0" rtl="0" algn="l">
                        <a:spcBef>
                          <a:spcPts val="0"/>
                        </a:spcBef>
                        <a:spcAft>
                          <a:spcPts val="0"/>
                        </a:spcAft>
                        <a:buNone/>
                      </a:pPr>
                      <a:r>
                        <a:rPr lang="en"/>
                        <a:t>Month 5-8</a:t>
                      </a:r>
                      <a:endParaRPr/>
                    </a:p>
                  </a:txBody>
                  <a:tcPr marT="91425" marB="91425" marR="91425" marL="91425"/>
                </a:tc>
                <a:tc>
                  <a:txBody>
                    <a:bodyPr/>
                    <a:lstStyle/>
                    <a:p>
                      <a:pPr indent="0" lvl="0" marL="0" rtl="0" algn="l">
                        <a:spcBef>
                          <a:spcPts val="0"/>
                        </a:spcBef>
                        <a:spcAft>
                          <a:spcPts val="0"/>
                        </a:spcAft>
                        <a:buNone/>
                      </a:pPr>
                      <a:r>
                        <a:rPr lang="en"/>
                        <a:t>Month 9-11</a:t>
                      </a:r>
                      <a:endParaRPr/>
                    </a:p>
                  </a:txBody>
                  <a:tcPr marT="91425" marB="91425" marR="91425" marL="91425"/>
                </a:tc>
                <a:tc>
                  <a:txBody>
                    <a:bodyPr/>
                    <a:lstStyle/>
                    <a:p>
                      <a:pPr indent="0" lvl="0" marL="0" rtl="0" algn="l">
                        <a:spcBef>
                          <a:spcPts val="0"/>
                        </a:spcBef>
                        <a:spcAft>
                          <a:spcPts val="0"/>
                        </a:spcAft>
                        <a:buNone/>
                      </a:pPr>
                      <a:r>
                        <a:rPr lang="en"/>
                        <a:t>Month 12-13</a:t>
                      </a:r>
                      <a:endParaRPr/>
                    </a:p>
                  </a:txBody>
                  <a:tcPr marT="91425" marB="91425" marR="91425" marL="91425"/>
                </a:tc>
              </a:tr>
              <a:tr h="381000">
                <a:tc>
                  <a:txBody>
                    <a:bodyPr/>
                    <a:lstStyle/>
                    <a:p>
                      <a:pPr indent="0" lvl="0" marL="0" rtl="0" algn="l">
                        <a:spcBef>
                          <a:spcPts val="0"/>
                        </a:spcBef>
                        <a:spcAft>
                          <a:spcPts val="0"/>
                        </a:spcAft>
                        <a:buNone/>
                      </a:pPr>
                      <a:r>
                        <a:rPr lang="en"/>
                        <a:t>Requirements &amp; Feasibility</a:t>
                      </a:r>
                      <a:endParaRPr/>
                    </a:p>
                  </a:txBody>
                  <a:tcPr marT="91425" marB="91425" marR="91425" marL="91425"/>
                </a:tc>
                <a:tc>
                  <a:txBody>
                    <a:bodyPr/>
                    <a:lstStyle/>
                    <a:p>
                      <a:pPr indent="0" lvl="0" marL="0" rtl="0" algn="l">
                        <a:spcBef>
                          <a:spcPts val="0"/>
                        </a:spcBef>
                        <a:spcAft>
                          <a:spcPts val="0"/>
                        </a:spcAft>
                        <a:buNone/>
                      </a:pPr>
                      <a:r>
                        <a:rPr lang="en"/>
                        <a:t>Design &amp; Architecture</a:t>
                      </a:r>
                      <a:endParaRPr/>
                    </a:p>
                  </a:txBody>
                  <a:tcPr marT="91425" marB="91425" marR="91425" marL="91425"/>
                </a:tc>
                <a:tc>
                  <a:txBody>
                    <a:bodyPr/>
                    <a:lstStyle/>
                    <a:p>
                      <a:pPr indent="0" lvl="0" marL="0" rtl="0" algn="l">
                        <a:spcBef>
                          <a:spcPts val="0"/>
                        </a:spcBef>
                        <a:spcAft>
                          <a:spcPts val="0"/>
                        </a:spcAft>
                        <a:buNone/>
                      </a:pPr>
                      <a:r>
                        <a:rPr lang="en"/>
                        <a:t>Development &amp; Procurement</a:t>
                      </a:r>
                      <a:endParaRPr/>
                    </a:p>
                  </a:txBody>
                  <a:tcPr marT="91425" marB="91425" marR="91425" marL="91425"/>
                </a:tc>
                <a:tc>
                  <a:txBody>
                    <a:bodyPr/>
                    <a:lstStyle/>
                    <a:p>
                      <a:pPr indent="0" lvl="0" marL="0" rtl="0" algn="l">
                        <a:spcBef>
                          <a:spcPts val="0"/>
                        </a:spcBef>
                        <a:spcAft>
                          <a:spcPts val="0"/>
                        </a:spcAft>
                        <a:buNone/>
                      </a:pPr>
                      <a:r>
                        <a:rPr lang="en"/>
                        <a:t>Integration &amp; System Testing</a:t>
                      </a:r>
                      <a:endParaRPr/>
                    </a:p>
                  </a:txBody>
                  <a:tcPr marT="91425" marB="91425" marR="91425" marL="91425"/>
                </a:tc>
                <a:tc>
                  <a:txBody>
                    <a:bodyPr/>
                    <a:lstStyle/>
                    <a:p>
                      <a:pPr indent="0" lvl="0" marL="0" rtl="0" algn="l">
                        <a:spcBef>
                          <a:spcPts val="0"/>
                        </a:spcBef>
                        <a:spcAft>
                          <a:spcPts val="0"/>
                        </a:spcAft>
                        <a:buNone/>
                      </a:pPr>
                      <a:r>
                        <a:rPr lang="en"/>
                        <a:t>UAT &amp; Release</a:t>
                      </a:r>
                      <a:endParaRPr/>
                    </a:p>
                  </a:txBody>
                  <a:tcPr marT="91425" marB="91425" marR="91425" marL="91425"/>
                </a:tc>
              </a:tr>
              <a:tr h="381000">
                <a:tc>
                  <a:txBody>
                    <a:bodyPr/>
                    <a:lstStyle/>
                    <a:p>
                      <a:pPr indent="0" lvl="0" marL="0" rtl="0" algn="l">
                        <a:spcBef>
                          <a:spcPts val="0"/>
                        </a:spcBef>
                        <a:spcAft>
                          <a:spcPts val="0"/>
                        </a:spcAft>
                        <a:buNone/>
                      </a:pPr>
                      <a:r>
                        <a:rPr b="1" lang="en"/>
                        <a:t>Milestones</a:t>
                      </a:r>
                      <a:endParaRPr b="1"/>
                    </a:p>
                  </a:txBody>
                  <a:tcPr marT="91425" marB="91425" marR="91425" marL="91425" anchor="ctr"/>
                </a:tc>
                <a:tc>
                  <a:txBody>
                    <a:bodyPr/>
                    <a:lstStyle/>
                    <a:p>
                      <a:pPr indent="0" lvl="0" marL="0" rtl="0" algn="l">
                        <a:spcBef>
                          <a:spcPts val="0"/>
                        </a:spcBef>
                        <a:spcAft>
                          <a:spcPts val="0"/>
                        </a:spcAft>
                        <a:buNone/>
                      </a:pPr>
                      <a:r>
                        <a:rPr b="1" lang="en">
                          <a:solidFill>
                            <a:schemeClr val="dk1"/>
                          </a:solidFill>
                        </a:rPr>
                        <a:t>Milestones</a:t>
                      </a:r>
                      <a:endParaRPr/>
                    </a:p>
                  </a:txBody>
                  <a:tcPr marT="91425" marB="91425" marR="91425" marL="91425" anchor="ctr"/>
                </a:tc>
                <a:tc>
                  <a:txBody>
                    <a:bodyPr/>
                    <a:lstStyle/>
                    <a:p>
                      <a:pPr indent="0" lvl="0" marL="0" rtl="0" algn="l">
                        <a:spcBef>
                          <a:spcPts val="0"/>
                        </a:spcBef>
                        <a:spcAft>
                          <a:spcPts val="0"/>
                        </a:spcAft>
                        <a:buNone/>
                      </a:pPr>
                      <a:r>
                        <a:rPr b="1" lang="en">
                          <a:solidFill>
                            <a:schemeClr val="dk1"/>
                          </a:solidFill>
                        </a:rPr>
                        <a:t>Milestones</a:t>
                      </a:r>
                      <a:endParaRPr/>
                    </a:p>
                  </a:txBody>
                  <a:tcPr marT="91425" marB="91425" marR="91425" marL="91425" anchor="ctr"/>
                </a:tc>
                <a:tc>
                  <a:txBody>
                    <a:bodyPr/>
                    <a:lstStyle/>
                    <a:p>
                      <a:pPr indent="0" lvl="0" marL="0" rtl="0" algn="l">
                        <a:spcBef>
                          <a:spcPts val="0"/>
                        </a:spcBef>
                        <a:spcAft>
                          <a:spcPts val="0"/>
                        </a:spcAft>
                        <a:buNone/>
                      </a:pPr>
                      <a:r>
                        <a:rPr b="1" lang="en">
                          <a:solidFill>
                            <a:schemeClr val="dk1"/>
                          </a:solidFill>
                        </a:rPr>
                        <a:t>Milestones</a:t>
                      </a:r>
                      <a:endParaRPr/>
                    </a:p>
                  </a:txBody>
                  <a:tcPr marT="91425" marB="91425" marR="91425" marL="91425" anchor="ctr"/>
                </a:tc>
                <a:tc>
                  <a:txBody>
                    <a:bodyPr/>
                    <a:lstStyle/>
                    <a:p>
                      <a:pPr indent="0" lvl="0" marL="0" rtl="0" algn="l">
                        <a:spcBef>
                          <a:spcPts val="0"/>
                        </a:spcBef>
                        <a:spcAft>
                          <a:spcPts val="0"/>
                        </a:spcAft>
                        <a:buNone/>
                      </a:pPr>
                      <a:r>
                        <a:rPr b="1" lang="en">
                          <a:solidFill>
                            <a:schemeClr val="dk1"/>
                          </a:solidFill>
                        </a:rPr>
                        <a:t>Milestones</a:t>
                      </a:r>
                      <a:endParaRPr/>
                    </a:p>
                  </a:txBody>
                  <a:tcPr marT="91425" marB="91425" marR="91425" marL="91425" anchor="ctr"/>
                </a:tc>
              </a:tr>
              <a:tr h="381000">
                <a:tc>
                  <a:txBody>
                    <a:bodyPr/>
                    <a:lstStyle/>
                    <a:p>
                      <a:pPr indent="0" lvl="0" marL="0" rtl="0" algn="l">
                        <a:spcBef>
                          <a:spcPts val="0"/>
                        </a:spcBef>
                        <a:spcAft>
                          <a:spcPts val="0"/>
                        </a:spcAft>
                        <a:buNone/>
                      </a:pPr>
                      <a:r>
                        <a:rPr lang="en"/>
                        <a:t>Requirements baselined</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Architecture approved</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Prototype hardware available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Integrated system ready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UAT sign-off</a:t>
                      </a:r>
                      <a:endParaRPr>
                        <a:solidFill>
                          <a:schemeClr val="dk1"/>
                        </a:solidFill>
                      </a:endParaRPr>
                    </a:p>
                  </a:txBody>
                  <a:tcPr marT="91425" marB="91425" marR="91425" marL="91425"/>
                </a:tc>
              </a:tr>
            </a:tbl>
          </a:graphicData>
        </a:graphic>
      </p:graphicFrame>
      <p:sp>
        <p:nvSpPr>
          <p:cNvPr id="98" name="Google Shape;98;p19"/>
          <p:cNvSpPr txBox="1"/>
          <p:nvPr/>
        </p:nvSpPr>
        <p:spPr>
          <a:xfrm>
            <a:off x="392100" y="3976625"/>
            <a:ext cx="777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Milestones aligned with stage-gates and sprint reviews.</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20"/>
              <a:t>Cost Control and Commercial Viability – Ensuring Feasible Delivery</a:t>
            </a:r>
            <a:endParaRPr sz="2120"/>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Clr>
                <a:schemeClr val="dk1"/>
              </a:buClr>
              <a:buSzPct val="100000"/>
              <a:buFont typeface="Arial"/>
              <a:buNone/>
            </a:pPr>
            <a:r>
              <a:rPr b="1" lang="en" sz="1100">
                <a:solidFill>
                  <a:schemeClr val="dk1"/>
                </a:solidFill>
              </a:rPr>
              <a:t>Unit Cost &amp; Margin Position:</a:t>
            </a:r>
            <a:endParaRPr b="1" sz="1100">
              <a:solidFill>
                <a:schemeClr val="dk1"/>
              </a:solidFill>
            </a:endParaRPr>
          </a:p>
          <a:p>
            <a:pPr indent="-293211" lvl="0" marL="457200" rtl="0" algn="l">
              <a:spcBef>
                <a:spcPts val="1200"/>
              </a:spcBef>
              <a:spcAft>
                <a:spcPts val="0"/>
              </a:spcAft>
              <a:buClr>
                <a:schemeClr val="dk1"/>
              </a:buClr>
              <a:buSzPct val="100000"/>
              <a:buChar char="●"/>
            </a:pPr>
            <a:r>
              <a:rPr lang="en" sz="1100">
                <a:solidFill>
                  <a:schemeClr val="dk1"/>
                </a:solidFill>
              </a:rPr>
              <a:t>Estimated unit cost: </a:t>
            </a:r>
            <a:r>
              <a:rPr b="1" lang="en" sz="1100">
                <a:solidFill>
                  <a:schemeClr val="dk1"/>
                </a:solidFill>
              </a:rPr>
              <a:t>≈ £250</a:t>
            </a:r>
            <a:br>
              <a:rPr b="1" lang="en" sz="1100">
                <a:solidFill>
                  <a:schemeClr val="dk1"/>
                </a:solidFill>
              </a:rPr>
            </a:br>
            <a:endParaRPr b="1"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Advertised retail price: </a:t>
            </a:r>
            <a:r>
              <a:rPr b="1" lang="en" sz="1100">
                <a:solidFill>
                  <a:schemeClr val="dk1"/>
                </a:solidFill>
              </a:rPr>
              <a:t>£399.99</a:t>
            </a:r>
            <a:br>
              <a:rPr b="1" lang="en" sz="1100">
                <a:solidFill>
                  <a:schemeClr val="dk1"/>
                </a:solidFill>
              </a:rPr>
            </a:br>
            <a:endParaRPr b="1"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Gross margin preserved</a:t>
            </a:r>
            <a:br>
              <a:rPr lang="en" sz="1100">
                <a:solidFill>
                  <a:schemeClr val="dk1"/>
                </a:solidFill>
              </a:rPr>
            </a:br>
            <a:endParaRPr sz="1100">
              <a:solidFill>
                <a:schemeClr val="dk1"/>
              </a:solidFill>
            </a:endParaRPr>
          </a:p>
          <a:p>
            <a:pPr indent="0" lvl="0" marL="0" rtl="0" algn="l">
              <a:spcBef>
                <a:spcPts val="1200"/>
              </a:spcBef>
              <a:spcAft>
                <a:spcPts val="0"/>
              </a:spcAft>
              <a:buNone/>
            </a:pPr>
            <a:r>
              <a:rPr b="1" lang="en" sz="1100">
                <a:solidFill>
                  <a:schemeClr val="dk1"/>
                </a:solidFill>
              </a:rPr>
              <a:t>Project Budget &amp; Risk Control:</a:t>
            </a:r>
            <a:endParaRPr b="1" sz="1100">
              <a:solidFill>
                <a:schemeClr val="dk1"/>
              </a:solidFill>
            </a:endParaRPr>
          </a:p>
          <a:p>
            <a:pPr indent="-293211" lvl="0" marL="457200" rtl="0" algn="l">
              <a:spcBef>
                <a:spcPts val="1200"/>
              </a:spcBef>
              <a:spcAft>
                <a:spcPts val="0"/>
              </a:spcAft>
              <a:buClr>
                <a:schemeClr val="dk1"/>
              </a:buClr>
              <a:buSzPct val="100000"/>
              <a:buChar char="●"/>
            </a:pPr>
            <a:r>
              <a:rPr lang="en" sz="1100">
                <a:solidFill>
                  <a:schemeClr val="dk1"/>
                </a:solidFill>
              </a:rPr>
              <a:t>Total development budget: </a:t>
            </a:r>
            <a:r>
              <a:rPr b="1" lang="en" sz="1100">
                <a:solidFill>
                  <a:schemeClr val="dk1"/>
                </a:solidFill>
              </a:rPr>
              <a:t>£500,000</a:t>
            </a:r>
            <a:br>
              <a:rPr b="1" lang="en" sz="1100">
                <a:solidFill>
                  <a:schemeClr val="dk1"/>
                </a:solidFill>
              </a:rPr>
            </a:br>
            <a:endParaRPr b="1"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No parallel development streams</a:t>
            </a:r>
            <a:br>
              <a:rPr lang="en" sz="1100">
                <a:solidFill>
                  <a:schemeClr val="dk1"/>
                </a:solidFill>
              </a:rPr>
            </a:br>
            <a:endParaRPr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High-risk R&amp;D eliminated</a:t>
            </a:r>
            <a:endParaRPr sz="1100">
              <a:solidFill>
                <a:schemeClr val="dk1"/>
              </a:solidFill>
            </a:endParaRPr>
          </a:p>
          <a:p>
            <a:pPr indent="0" lvl="0" marL="0" rtl="0" algn="l">
              <a:spcBef>
                <a:spcPts val="1200"/>
              </a:spcBef>
              <a:spcAft>
                <a:spcPts val="0"/>
              </a:spcAft>
              <a:buNone/>
            </a:pPr>
            <a:r>
              <a:t/>
            </a:r>
            <a:endParaRPr/>
          </a:p>
          <a:p>
            <a:pPr indent="0" lvl="0" marL="381000" marR="381000" rtl="0" algn="l">
              <a:spcBef>
                <a:spcPts val="1200"/>
              </a:spcBef>
              <a:spcAft>
                <a:spcPts val="1200"/>
              </a:spcAft>
              <a:buNone/>
            </a:pPr>
            <a:r>
              <a:rPr lang="en"/>
              <a:t>Scope reduction ensures financial predictability and market competitiveness.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t>EDC Concerns and Mitigation Strategy — Addressing Risks</a:t>
            </a:r>
            <a:endParaRPr sz="2420"/>
          </a:p>
        </p:txBody>
      </p:sp>
      <p:graphicFrame>
        <p:nvGraphicFramePr>
          <p:cNvPr id="110" name="Google Shape;110;p21"/>
          <p:cNvGraphicFramePr/>
          <p:nvPr/>
        </p:nvGraphicFramePr>
        <p:xfrm>
          <a:off x="311700" y="1227175"/>
          <a:ext cx="3000000" cy="3000000"/>
        </p:xfrm>
        <a:graphic>
          <a:graphicData uri="http://schemas.openxmlformats.org/drawingml/2006/table">
            <a:tbl>
              <a:tblPr>
                <a:noFill/>
                <a:tableStyleId>{43C05C66-7C0C-426D-8CD3-7F45C177582C}</a:tableStyleId>
              </a:tblPr>
              <a:tblGrid>
                <a:gridCol w="4714350"/>
                <a:gridCol w="3664950"/>
              </a:tblGrid>
              <a:tr h="338100">
                <a:tc>
                  <a:txBody>
                    <a:bodyPr/>
                    <a:lstStyle/>
                    <a:p>
                      <a:pPr indent="0" lvl="0" marL="0" rtl="0" algn="l">
                        <a:lnSpc>
                          <a:spcPct val="115000"/>
                        </a:lnSpc>
                        <a:spcBef>
                          <a:spcPts val="0"/>
                        </a:spcBef>
                        <a:spcAft>
                          <a:spcPts val="0"/>
                        </a:spcAft>
                        <a:buNone/>
                      </a:pPr>
                      <a:r>
                        <a:rPr b="1" lang="en" sz="1100"/>
                        <a:t>EDC Concern:</a:t>
                      </a:r>
                      <a:endParaRPr b="1" sz="1100"/>
                    </a:p>
                  </a:txBody>
                  <a:tcPr marT="91425" marB="91425" marR="91425" marL="91425"/>
                </a:tc>
                <a:tc>
                  <a:txBody>
                    <a:bodyPr/>
                    <a:lstStyle/>
                    <a:p>
                      <a:pPr indent="0" lvl="0" marL="0" rtl="0" algn="l">
                        <a:lnSpc>
                          <a:spcPct val="115000"/>
                        </a:lnSpc>
                        <a:spcBef>
                          <a:spcPts val="0"/>
                        </a:spcBef>
                        <a:spcAft>
                          <a:spcPts val="0"/>
                        </a:spcAft>
                        <a:buNone/>
                      </a:pPr>
                      <a:r>
                        <a:rPr b="1" lang="en" sz="1100"/>
                        <a:t>Mitigation Implemented:</a:t>
                      </a:r>
                      <a:endParaRPr b="1" sz="1100"/>
                    </a:p>
                  </a:txBody>
                  <a:tcPr marT="91425" marB="91425" marR="91425" marL="91425"/>
                </a:tc>
              </a:tr>
              <a:tr h="521625">
                <a:tc>
                  <a:txBody>
                    <a:bodyPr/>
                    <a:lstStyle/>
                    <a:p>
                      <a:pPr indent="0" lvl="0" marL="0" rtl="0" algn="l">
                        <a:spcBef>
                          <a:spcPts val="0"/>
                        </a:spcBef>
                        <a:spcAft>
                          <a:spcPts val="0"/>
                        </a:spcAft>
                        <a:buNone/>
                      </a:pPr>
                      <a:r>
                        <a:rPr lang="en"/>
                        <a:t>Portability targets unachievable</a:t>
                      </a:r>
                      <a:endParaRPr/>
                    </a:p>
                  </a:txBody>
                  <a:tcPr marT="91425" marB="91425" marR="91425" marL="91425"/>
                </a:tc>
                <a:tc>
                  <a:txBody>
                    <a:bodyPr/>
                    <a:lstStyle/>
                    <a:p>
                      <a:pPr indent="0" lvl="0" marL="0" rtl="0" algn="l">
                        <a:spcBef>
                          <a:spcPts val="0"/>
                        </a:spcBef>
                        <a:spcAft>
                          <a:spcPts val="0"/>
                        </a:spcAft>
                        <a:buNone/>
                      </a:pPr>
                      <a:r>
                        <a:rPr lang="en"/>
                        <a:t>Desktop form factor adopted</a:t>
                      </a:r>
                      <a:endParaRPr/>
                    </a:p>
                  </a:txBody>
                  <a:tcPr marT="91425" marB="91425" marR="91425" marL="91425"/>
                </a:tc>
              </a:tr>
              <a:tr h="521625">
                <a:tc>
                  <a:txBody>
                    <a:bodyPr/>
                    <a:lstStyle/>
                    <a:p>
                      <a:pPr indent="0" lvl="0" marL="0" rtl="0" algn="l">
                        <a:spcBef>
                          <a:spcPts val="0"/>
                        </a:spcBef>
                        <a:spcAft>
                          <a:spcPts val="0"/>
                        </a:spcAft>
                        <a:buNone/>
                      </a:pPr>
                      <a:r>
                        <a:rPr lang="en"/>
                        <a:t>High technical risk (proprietary OS &amp; storage)</a:t>
                      </a:r>
                      <a:endParaRPr/>
                    </a:p>
                  </a:txBody>
                  <a:tcPr marT="91425" marB="91425" marR="91425" marL="91425"/>
                </a:tc>
                <a:tc>
                  <a:txBody>
                    <a:bodyPr/>
                    <a:lstStyle/>
                    <a:p>
                      <a:pPr indent="0" lvl="0" marL="0" rtl="0" algn="l">
                        <a:spcBef>
                          <a:spcPts val="0"/>
                        </a:spcBef>
                        <a:spcAft>
                          <a:spcPts val="0"/>
                        </a:spcAft>
                        <a:buNone/>
                      </a:pPr>
                      <a:r>
                        <a:rPr lang="en"/>
                        <a:t>Industry-standard OS and storage</a:t>
                      </a:r>
                      <a:endParaRPr/>
                    </a:p>
                  </a:txBody>
                  <a:tcPr marT="91425" marB="91425" marR="91425" marL="91425"/>
                </a:tc>
              </a:tr>
              <a:tr h="521625">
                <a:tc>
                  <a:txBody>
                    <a:bodyPr/>
                    <a:lstStyle/>
                    <a:p>
                      <a:pPr indent="0" lvl="0" marL="0" rtl="0" algn="l">
                        <a:spcBef>
                          <a:spcPts val="0"/>
                        </a:spcBef>
                        <a:spcAft>
                          <a:spcPts val="0"/>
                        </a:spcAft>
                        <a:buNone/>
                      </a:pPr>
                      <a:r>
                        <a:rPr lang="en"/>
                        <a:t>Business compatibility concerns</a:t>
                      </a:r>
                      <a:endParaRPr/>
                    </a:p>
                  </a:txBody>
                  <a:tcPr marT="91425" marB="91425" marR="91425" marL="91425"/>
                </a:tc>
                <a:tc>
                  <a:txBody>
                    <a:bodyPr/>
                    <a:lstStyle/>
                    <a:p>
                      <a:pPr indent="0" lvl="0" marL="0" rtl="0" algn="l">
                        <a:spcBef>
                          <a:spcPts val="0"/>
                        </a:spcBef>
                        <a:spcAft>
                          <a:spcPts val="0"/>
                        </a:spcAft>
                        <a:buNone/>
                      </a:pPr>
                      <a:r>
                        <a:rPr lang="en"/>
                        <a:t>TeleBasic support and office suite</a:t>
                      </a:r>
                      <a:endParaRPr/>
                    </a:p>
                  </a:txBody>
                  <a:tcPr marT="91425" marB="91425" marR="91425" marL="91425"/>
                </a:tc>
              </a:tr>
              <a:tr h="521625">
                <a:tc>
                  <a:txBody>
                    <a:bodyPr/>
                    <a:lstStyle/>
                    <a:p>
                      <a:pPr indent="0" lvl="0" marL="0" rtl="0" algn="l">
                        <a:spcBef>
                          <a:spcPts val="0"/>
                        </a:spcBef>
                        <a:spcAft>
                          <a:spcPts val="0"/>
                        </a:spcAft>
                        <a:buNone/>
                      </a:pPr>
                      <a:r>
                        <a:rPr lang="en"/>
                        <a:t>Delivery risk within 13 months</a:t>
                      </a:r>
                      <a:endParaRPr/>
                    </a:p>
                  </a:txBody>
                  <a:tcPr marT="91425" marB="91425" marR="91425" marL="91425"/>
                </a:tc>
                <a:tc>
                  <a:txBody>
                    <a:bodyPr/>
                    <a:lstStyle/>
                    <a:p>
                      <a:pPr indent="0" lvl="0" marL="0" rtl="0" algn="l">
                        <a:spcBef>
                          <a:spcPts val="0"/>
                        </a:spcBef>
                        <a:spcAft>
                          <a:spcPts val="0"/>
                        </a:spcAft>
                        <a:buNone/>
                      </a:pPr>
                      <a:r>
                        <a:rPr lang="en"/>
                        <a:t>Hybrid Agile with stage-gates</a:t>
                      </a:r>
                      <a:endParaRPr/>
                    </a:p>
                  </a:txBody>
                  <a:tcPr marT="91425" marB="91425" marR="91425" marL="91425"/>
                </a:tc>
              </a:tr>
              <a:tr h="521625">
                <a:tc>
                  <a:txBody>
                    <a:bodyPr/>
                    <a:lstStyle/>
                    <a:p>
                      <a:pPr indent="0" lvl="0" marL="0" rtl="0" algn="l">
                        <a:spcBef>
                          <a:spcPts val="0"/>
                        </a:spcBef>
                        <a:spcAft>
                          <a:spcPts val="0"/>
                        </a:spcAft>
                        <a:buNone/>
                      </a:pPr>
                      <a:r>
                        <a:rPr lang="en"/>
                        <a:t>Cost overrun risk</a:t>
                      </a:r>
                      <a:endParaRPr/>
                    </a:p>
                  </a:txBody>
                  <a:tcPr marT="91425" marB="91425" marR="91425" marL="91425"/>
                </a:tc>
                <a:tc>
                  <a:txBody>
                    <a:bodyPr/>
                    <a:lstStyle/>
                    <a:p>
                      <a:pPr indent="0" lvl="0" marL="0" rtl="0" algn="l">
                        <a:spcBef>
                          <a:spcPts val="0"/>
                        </a:spcBef>
                        <a:spcAft>
                          <a:spcPts val="0"/>
                        </a:spcAft>
                        <a:buNone/>
                      </a:pPr>
                      <a:r>
                        <a:rPr lang="en"/>
                        <a:t>Scope reduction and single platform</a:t>
                      </a:r>
                      <a:endParaRPr/>
                    </a:p>
                  </a:txBody>
                  <a:tcPr marT="91425" marB="91425" marR="91425" marL="91425"/>
                </a:tc>
              </a:tr>
            </a:tbl>
          </a:graphicData>
        </a:graphic>
      </p:graphicFrame>
      <p:sp>
        <p:nvSpPr>
          <p:cNvPr id="111" name="Google Shape;111;p21"/>
          <p:cNvSpPr txBox="1"/>
          <p:nvPr/>
        </p:nvSpPr>
        <p:spPr>
          <a:xfrm>
            <a:off x="0" y="4245300"/>
            <a:ext cx="9051000" cy="12528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Clr>
                <a:schemeClr val="dk1"/>
              </a:buClr>
              <a:buSzPts val="1100"/>
              <a:buFont typeface="Arial"/>
              <a:buNone/>
            </a:pPr>
            <a:r>
              <a:rPr lang="en" sz="1800">
                <a:solidFill>
                  <a:schemeClr val="dk2"/>
                </a:solidFill>
              </a:rPr>
              <a:t>Mitigations aligned with feasibility, governance, and commercial constraints ensure project success.</a:t>
            </a:r>
            <a:endParaRPr sz="1800">
              <a:solidFill>
                <a:schemeClr val="dk2"/>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Feasible and Controlled Delivery</a:t>
            </a:r>
            <a:endParaRPr/>
          </a:p>
        </p:txBody>
      </p:sp>
      <p:sp>
        <p:nvSpPr>
          <p:cNvPr id="117" name="Google Shape;11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b="1" lang="en" sz="1100">
                <a:solidFill>
                  <a:schemeClr val="dk1"/>
                </a:solidFill>
              </a:rPr>
              <a:t>What this plan achieves</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Technically feasible system</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Commercially viable within £399.99</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Fully aligned with EDC’s critical business requirements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Deliverable within 13 months</a:t>
            </a:r>
            <a:br>
              <a:rPr lang="en" sz="1100">
                <a:solidFill>
                  <a:schemeClr val="dk1"/>
                </a:solidFill>
              </a:rPr>
            </a:br>
            <a:endParaRPr sz="1100">
              <a:solidFill>
                <a:schemeClr val="dk1"/>
              </a:solidFill>
            </a:endParaRPr>
          </a:p>
          <a:p>
            <a:pPr indent="0" lvl="0" marL="381000" marR="381000" rtl="0" algn="l">
              <a:spcBef>
                <a:spcPts val="1200"/>
              </a:spcBef>
              <a:spcAft>
                <a:spcPts val="0"/>
              </a:spcAft>
              <a:buNone/>
            </a:pPr>
            <a:r>
              <a:t/>
            </a:r>
            <a:endParaRPr/>
          </a:p>
          <a:p>
            <a:pPr indent="0" lvl="0" marL="381000" marR="381000" rtl="0" algn="l">
              <a:spcBef>
                <a:spcPts val="1200"/>
              </a:spcBef>
              <a:spcAft>
                <a:spcPts val="0"/>
              </a:spcAft>
              <a:buNone/>
            </a:pPr>
            <a:r>
              <a:rPr lang="en"/>
              <a:t>The project transitions from speculative innovation to controlled delivery.</a:t>
            </a:r>
            <a:endParaRPr/>
          </a:p>
          <a:p>
            <a:pPr indent="0" lvl="0" marL="0" rtl="0" algn="l">
              <a:spcBef>
                <a:spcPts val="1200"/>
              </a:spcBef>
              <a:spcAft>
                <a:spcPts val="1200"/>
              </a:spcAft>
              <a:buNone/>
            </a:pPr>
            <a:r>
              <a:t/>
            </a:r>
            <a:endParaRPr/>
          </a:p>
        </p:txBody>
      </p:sp>
      <p:sp>
        <p:nvSpPr>
          <p:cNvPr id="118" name="Google Shape;118;p22"/>
          <p:cNvSpPr txBox="1"/>
          <p:nvPr/>
        </p:nvSpPr>
        <p:spPr>
          <a:xfrm>
            <a:off x="4844100" y="1152475"/>
            <a:ext cx="4153200" cy="187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Immediate next steps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Confirm revised requirements baseline (Immediate stakeholder sign-off required)</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Approve and finalize architecture, OS, and software licensing decisions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Initiate procurement and sprint planning</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